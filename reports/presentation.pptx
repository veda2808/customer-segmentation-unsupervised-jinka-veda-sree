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chivo Black" charset="1" panose="020B0A03020202020B04"/>
      <p:regular r:id="rId16"/>
    </p:embeddedFont>
    <p:embeddedFont>
      <p:font typeface="Red Hat Display" charset="1" panose="02010503040201060303"/>
      <p:regular r:id="rId17"/>
    </p:embeddedFont>
    <p:embeddedFont>
      <p:font typeface="Red Hat Display Bold" charset="1" panose="020108030402010603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993077" y="2539219"/>
            <a:ext cx="11695306" cy="3278473"/>
          </a:xfrm>
          <a:prstGeom prst="rect">
            <a:avLst/>
          </a:prstGeom>
        </p:spPr>
        <p:txBody>
          <a:bodyPr anchor="t" rtlCol="false" tIns="0" lIns="0" bIns="0" rIns="0">
            <a:spAutoFit/>
          </a:bodyPr>
          <a:lstStyle/>
          <a:p>
            <a:pPr algn="l">
              <a:lnSpc>
                <a:spcPts val="8459"/>
              </a:lnSpc>
            </a:pPr>
            <a:r>
              <a:rPr lang="en-US" sz="8999">
                <a:solidFill>
                  <a:srgbClr val="FFFFFF"/>
                </a:solidFill>
                <a:latin typeface="Archivo Black"/>
                <a:ea typeface="Archivo Black"/>
                <a:cs typeface="Archivo Black"/>
                <a:sym typeface="Archivo Black"/>
              </a:rPr>
              <a:t>Customer Segmentation using clustering</a:t>
            </a:r>
          </a:p>
        </p:txBody>
      </p:sp>
      <p:sp>
        <p:nvSpPr>
          <p:cNvPr name="TextBox 4" id="4"/>
          <p:cNvSpPr txBox="true"/>
          <p:nvPr/>
        </p:nvSpPr>
        <p:spPr>
          <a:xfrm rot="0">
            <a:off x="1076325" y="6244558"/>
            <a:ext cx="7567140" cy="3060739"/>
          </a:xfrm>
          <a:prstGeom prst="rect">
            <a:avLst/>
          </a:prstGeom>
        </p:spPr>
        <p:txBody>
          <a:bodyPr anchor="t" rtlCol="false" tIns="0" lIns="0" bIns="0" rIns="0">
            <a:spAutoFit/>
          </a:bodyPr>
          <a:lstStyle/>
          <a:p>
            <a:pPr algn="l">
              <a:lnSpc>
                <a:spcPts val="6122"/>
              </a:lnSpc>
              <a:spcBef>
                <a:spcPct val="0"/>
              </a:spcBef>
            </a:pPr>
            <a:r>
              <a:rPr lang="en-US" sz="4373">
                <a:solidFill>
                  <a:srgbClr val="F4F4ED"/>
                </a:solidFill>
                <a:latin typeface="Red Hat Display"/>
                <a:ea typeface="Red Hat Display"/>
                <a:cs typeface="Red Hat Display"/>
                <a:sym typeface="Red Hat Display"/>
              </a:rPr>
              <a:t>Presented by Jinka Veda Sree</a:t>
            </a:r>
          </a:p>
          <a:p>
            <a:pPr algn="l">
              <a:lnSpc>
                <a:spcPts val="6122"/>
              </a:lnSpc>
              <a:spcBef>
                <a:spcPct val="0"/>
              </a:spcBef>
            </a:pPr>
            <a:r>
              <a:rPr lang="en-US" sz="4373">
                <a:solidFill>
                  <a:srgbClr val="F4F4ED"/>
                </a:solidFill>
                <a:latin typeface="Red Hat Display"/>
                <a:ea typeface="Red Hat Display"/>
                <a:cs typeface="Red Hat Display"/>
                <a:sym typeface="Red Hat Display"/>
              </a:rPr>
              <a:t>Batch: AI &amp; ML</a:t>
            </a:r>
          </a:p>
          <a:p>
            <a:pPr algn="l">
              <a:lnSpc>
                <a:spcPts val="6122"/>
              </a:lnSpc>
              <a:spcBef>
                <a:spcPct val="0"/>
              </a:spcBef>
            </a:pPr>
            <a:r>
              <a:rPr lang="en-US" sz="4373">
                <a:solidFill>
                  <a:srgbClr val="F4F4ED"/>
                </a:solidFill>
                <a:latin typeface="Red Hat Display"/>
                <a:ea typeface="Red Hat Display"/>
                <a:cs typeface="Red Hat Display"/>
                <a:sym typeface="Red Hat Display"/>
              </a:rPr>
              <a:t>(Jan 2026- Mar 2026)</a:t>
            </a:r>
          </a:p>
          <a:p>
            <a:pPr algn="l">
              <a:lnSpc>
                <a:spcPts val="6122"/>
              </a:lnSpc>
              <a:spcBef>
                <a:spcPct val="0"/>
              </a:spcBef>
            </a:pPr>
          </a:p>
        </p:txBody>
      </p:sp>
      <p:sp>
        <p:nvSpPr>
          <p:cNvPr name="Freeform 5" id="5"/>
          <p:cNvSpPr/>
          <p:nvPr/>
        </p:nvSpPr>
        <p:spPr>
          <a:xfrm flipH="false" flipV="true" rot="-1542318">
            <a:off x="13654428" y="80032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4255355" y="46215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8700" y="1413758"/>
            <a:ext cx="10284037" cy="5616466"/>
            <a:chOff x="0" y="0"/>
            <a:chExt cx="13712050" cy="7488621"/>
          </a:xfrm>
        </p:grpSpPr>
        <p:grpSp>
          <p:nvGrpSpPr>
            <p:cNvPr name="Group 6" id="6"/>
            <p:cNvGrpSpPr/>
            <p:nvPr/>
          </p:nvGrpSpPr>
          <p:grpSpPr>
            <a:xfrm rot="0">
              <a:off x="0" y="0"/>
              <a:ext cx="13712050" cy="7488621"/>
              <a:chOff x="0" y="0"/>
              <a:chExt cx="2708553" cy="1479234"/>
            </a:xfrm>
          </p:grpSpPr>
          <p:sp>
            <p:nvSpPr>
              <p:cNvPr name="Freeform 7" id="7"/>
              <p:cNvSpPr/>
              <p:nvPr/>
            </p:nvSpPr>
            <p:spPr>
              <a:xfrm flipH="false" flipV="false" rot="0">
                <a:off x="0" y="0"/>
                <a:ext cx="2708553" cy="1479234"/>
              </a:xfrm>
              <a:custGeom>
                <a:avLst/>
                <a:gdLst/>
                <a:ahLst/>
                <a:cxnLst/>
                <a:rect r="r" b="b" t="t" l="l"/>
                <a:pathLst>
                  <a:path h="1479234" w="2708553">
                    <a:moveTo>
                      <a:pt x="15056" y="0"/>
                    </a:moveTo>
                    <a:lnTo>
                      <a:pt x="2693497" y="0"/>
                    </a:lnTo>
                    <a:cubicBezTo>
                      <a:pt x="2701812" y="0"/>
                      <a:pt x="2708553" y="6741"/>
                      <a:pt x="2708553" y="15056"/>
                    </a:cubicBezTo>
                    <a:lnTo>
                      <a:pt x="2708553" y="1464178"/>
                    </a:lnTo>
                    <a:cubicBezTo>
                      <a:pt x="2708553" y="1468171"/>
                      <a:pt x="2706967" y="1472000"/>
                      <a:pt x="2704143" y="1474824"/>
                    </a:cubicBezTo>
                    <a:cubicBezTo>
                      <a:pt x="2701320" y="1477648"/>
                      <a:pt x="2697490" y="1479234"/>
                      <a:pt x="2693497" y="1479234"/>
                    </a:cubicBezTo>
                    <a:lnTo>
                      <a:pt x="15056" y="1479234"/>
                    </a:lnTo>
                    <a:cubicBezTo>
                      <a:pt x="11063" y="1479234"/>
                      <a:pt x="7233" y="1477648"/>
                      <a:pt x="4410" y="1474824"/>
                    </a:cubicBezTo>
                    <a:cubicBezTo>
                      <a:pt x="1586" y="1472000"/>
                      <a:pt x="0" y="1468171"/>
                      <a:pt x="0" y="1464178"/>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8" id="8"/>
              <p:cNvSpPr txBox="true"/>
              <p:nvPr/>
            </p:nvSpPr>
            <p:spPr>
              <a:xfrm>
                <a:off x="0" y="-38100"/>
                <a:ext cx="2708553" cy="151733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75120" y="1115685"/>
              <a:ext cx="11368840" cy="3106420"/>
            </a:xfrm>
            <a:prstGeom prst="rect">
              <a:avLst/>
            </a:prstGeom>
          </p:spPr>
          <p:txBody>
            <a:bodyPr anchor="t" rtlCol="false" tIns="0" lIns="0" bIns="0" rIns="0">
              <a:spAutoFit/>
            </a:bodyPr>
            <a:lstStyle/>
            <a:p>
              <a:pPr algn="l">
                <a:lnSpc>
                  <a:spcPts val="8730"/>
                </a:lnSpc>
              </a:pPr>
              <a:r>
                <a:rPr lang="en-US" sz="9000">
                  <a:solidFill>
                    <a:srgbClr val="F4F4ED"/>
                  </a:solidFill>
                  <a:latin typeface="Archivo Black"/>
                  <a:ea typeface="Archivo Black"/>
                  <a:cs typeface="Archivo Black"/>
                  <a:sym typeface="Archivo Black"/>
                </a:rPr>
                <a:t>Origin of the creative idea</a:t>
              </a:r>
            </a:p>
          </p:txBody>
        </p:sp>
        <p:sp>
          <p:nvSpPr>
            <p:cNvPr name="TextBox 10" id="10"/>
            <p:cNvSpPr txBox="true"/>
            <p:nvPr/>
          </p:nvSpPr>
          <p:spPr>
            <a:xfrm rot="0">
              <a:off x="1102120" y="4709015"/>
              <a:ext cx="10276762" cy="1854835"/>
            </a:xfrm>
            <a:prstGeom prst="rect">
              <a:avLst/>
            </a:prstGeom>
          </p:spPr>
          <p:txBody>
            <a:bodyPr anchor="t" rtlCol="false" tIns="0" lIns="0" bIns="0" rIns="0">
              <a:spAutoFit/>
            </a:bodyPr>
            <a:lstStyle/>
            <a:p>
              <a:pPr algn="l" marL="0" indent="0" lvl="0">
                <a:lnSpc>
                  <a:spcPts val="2834"/>
                </a:lnSpc>
                <a:spcBef>
                  <a:spcPct val="0"/>
                </a:spcBef>
              </a:pPr>
              <a:r>
                <a:rPr lang="en-US" sz="2099" spc="125">
                  <a:solidFill>
                    <a:srgbClr val="F4F4ED"/>
                  </a:solidFill>
                  <a:latin typeface="Red Hat Display"/>
                  <a:ea typeface="Red Hat Display"/>
                  <a:cs typeface="Red Hat Display"/>
                  <a:sym typeface="Red Hat Display"/>
                </a:rPr>
                <a:t>“Th</a:t>
              </a:r>
              <a:r>
                <a:rPr lang="en-US" sz="2099" spc="125" u="none">
                  <a:solidFill>
                    <a:srgbClr val="F4F4ED"/>
                  </a:solidFill>
                  <a:latin typeface="Red Hat Display"/>
                  <a:ea typeface="Red Hat Display"/>
                  <a:cs typeface="Red Hat Display"/>
                  <a:sym typeface="Red Hat Display"/>
                </a:rPr>
                <a:t>e idea for this project came from real-world business challenges where companies don’t fully understand their customers. I wanted to use machine learning to segment customers and help businesses make better decisions.”</a:t>
              </a:r>
            </a:p>
          </p:txBody>
        </p:sp>
      </p:grpSp>
      <p:grpSp>
        <p:nvGrpSpPr>
          <p:cNvPr name="Group 11" id="11"/>
          <p:cNvGrpSpPr/>
          <p:nvPr/>
        </p:nvGrpSpPr>
        <p:grpSpPr>
          <a:xfrm rot="0">
            <a:off x="11725935" y="-2607264"/>
            <a:ext cx="4395385" cy="15773061"/>
            <a:chOff x="0" y="0"/>
            <a:chExt cx="5860514" cy="21030749"/>
          </a:xfrm>
        </p:grpSpPr>
        <p:sp>
          <p:nvSpPr>
            <p:cNvPr name="AutoShape 12" id="12"/>
            <p:cNvSpPr/>
            <p:nvPr/>
          </p:nvSpPr>
          <p:spPr>
            <a:xfrm flipV="true">
              <a:off x="263156" y="0"/>
              <a:ext cx="0" cy="21030749"/>
            </a:xfrm>
            <a:prstGeom prst="line">
              <a:avLst/>
            </a:prstGeom>
            <a:ln cap="flat" w="25400">
              <a:solidFill>
                <a:srgbClr val="F4F4ED"/>
              </a:solidFill>
              <a:prstDash val="solid"/>
              <a:headEnd type="none" len="sm" w="sm"/>
              <a:tailEnd type="none" len="sm" w="sm"/>
            </a:ln>
          </p:spPr>
        </p:sp>
        <p:grpSp>
          <p:nvGrpSpPr>
            <p:cNvPr name="Group 13" id="13"/>
            <p:cNvGrpSpPr/>
            <p:nvPr/>
          </p:nvGrpSpPr>
          <p:grpSpPr>
            <a:xfrm rot="-5400000">
              <a:off x="0" y="13112559"/>
              <a:ext cx="526312" cy="5263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5" id="15"/>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6" id="16"/>
            <p:cNvGrpSpPr/>
            <p:nvPr/>
          </p:nvGrpSpPr>
          <p:grpSpPr>
            <a:xfrm rot="-5400000">
              <a:off x="0" y="9398595"/>
              <a:ext cx="526312" cy="5263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8" id="1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9" id="19"/>
            <p:cNvGrpSpPr/>
            <p:nvPr/>
          </p:nvGrpSpPr>
          <p:grpSpPr>
            <a:xfrm rot="-5400000">
              <a:off x="0" y="5531489"/>
              <a:ext cx="526312" cy="52631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21" id="21"/>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2" id="22"/>
            <p:cNvSpPr txBox="true"/>
            <p:nvPr/>
          </p:nvSpPr>
          <p:spPr>
            <a:xfrm rot="0">
              <a:off x="832689" y="5368330"/>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23" id="23"/>
            <p:cNvSpPr txBox="true"/>
            <p:nvPr/>
          </p:nvSpPr>
          <p:spPr>
            <a:xfrm rot="0">
              <a:off x="832689" y="9234184"/>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4" id="24"/>
            <p:cNvSpPr txBox="true"/>
            <p:nvPr/>
          </p:nvSpPr>
          <p:spPr>
            <a:xfrm rot="0">
              <a:off x="832689" y="6531439"/>
              <a:ext cx="4702057" cy="1924685"/>
            </a:xfrm>
            <a:prstGeom prst="rect">
              <a:avLst/>
            </a:prstGeom>
          </p:spPr>
          <p:txBody>
            <a:bodyPr anchor="t" rtlCol="false" tIns="0" lIns="0" bIns="0" rIns="0">
              <a:spAutoFit/>
            </a:bodyPr>
            <a:lstStyle/>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Th</a:t>
              </a:r>
              <a:r>
                <a:rPr lang="en-US" sz="1500">
                  <a:solidFill>
                    <a:srgbClr val="FFFFFF"/>
                  </a:solidFill>
                  <a:latin typeface="Red Hat Display"/>
                  <a:ea typeface="Red Hat Display"/>
                  <a:cs typeface="Red Hat Display"/>
                  <a:sym typeface="Red Hat Display"/>
                </a:rPr>
                <a:t>e idea originated from the need to understand customer behavior and purchasing patterns in modern businesses</a:t>
              </a:r>
            </a:p>
            <a:p>
              <a:pPr algn="l">
                <a:lnSpc>
                  <a:spcPts val="2340"/>
                </a:lnSpc>
              </a:pPr>
            </a:p>
          </p:txBody>
        </p:sp>
        <p:sp>
          <p:nvSpPr>
            <p:cNvPr name="TextBox 25" id="25"/>
            <p:cNvSpPr txBox="true"/>
            <p:nvPr/>
          </p:nvSpPr>
          <p:spPr>
            <a:xfrm rot="0">
              <a:off x="832689" y="10397293"/>
              <a:ext cx="5027825" cy="2318385"/>
            </a:xfrm>
            <a:prstGeom prst="rect">
              <a:avLst/>
            </a:prstGeom>
          </p:spPr>
          <p:txBody>
            <a:bodyPr anchor="t" rtlCol="false" tIns="0" lIns="0" bIns="0" rIns="0">
              <a:spAutoFit/>
            </a:bodyPr>
            <a:lstStyle/>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Many companies struggle to identify valuable customers and target them effectively</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Inspired by real-world applications of data analytics in retail and marketing</a:t>
              </a:r>
            </a:p>
            <a:p>
              <a:pPr algn="l">
                <a:lnSpc>
                  <a:spcPts val="2340"/>
                </a:lnSpc>
              </a:pPr>
            </a:p>
          </p:txBody>
        </p:sp>
        <p:sp>
          <p:nvSpPr>
            <p:cNvPr name="TextBox 26" id="26"/>
            <p:cNvSpPr txBox="true"/>
            <p:nvPr/>
          </p:nvSpPr>
          <p:spPr>
            <a:xfrm rot="0">
              <a:off x="832689" y="12942161"/>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7" id="27"/>
            <p:cNvSpPr txBox="true"/>
            <p:nvPr/>
          </p:nvSpPr>
          <p:spPr>
            <a:xfrm rot="0">
              <a:off x="832689" y="14105270"/>
              <a:ext cx="4793465" cy="2318385"/>
            </a:xfrm>
            <a:prstGeom prst="rect">
              <a:avLst/>
            </a:prstGeom>
          </p:spPr>
          <p:txBody>
            <a:bodyPr anchor="t" rtlCol="false" tIns="0" lIns="0" bIns="0" rIns="0">
              <a:spAutoFit/>
            </a:bodyPr>
            <a:lstStyle/>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Th</a:t>
              </a:r>
              <a:r>
                <a:rPr lang="en-US" sz="1500">
                  <a:solidFill>
                    <a:srgbClr val="FFFFFF"/>
                  </a:solidFill>
                  <a:latin typeface="Red Hat Display"/>
                  <a:ea typeface="Red Hat Display"/>
                  <a:cs typeface="Red Hat Display"/>
                  <a:sym typeface="Red Hat Display"/>
                </a:rPr>
                <a:t>e concept of customer segmentation using machine learning provided a data-driven solution</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Aim was to convert raw customer data into actionable business insights</a:t>
              </a:r>
            </a:p>
            <a:p>
              <a:pPr algn="l">
                <a:lnSpc>
                  <a:spcPts val="234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471356" y="-384020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grpSp>
        <p:nvGrpSpPr>
          <p:cNvPr name="Group 4" id="4"/>
          <p:cNvGrpSpPr/>
          <p:nvPr/>
        </p:nvGrpSpPr>
        <p:grpSpPr>
          <a:xfrm rot="0">
            <a:off x="1028700" y="1095257"/>
            <a:ext cx="8115300" cy="8382892"/>
            <a:chOff x="0" y="0"/>
            <a:chExt cx="10820400" cy="11177190"/>
          </a:xfrm>
        </p:grpSpPr>
        <p:grpSp>
          <p:nvGrpSpPr>
            <p:cNvPr name="Group 5" id="5"/>
            <p:cNvGrpSpPr/>
            <p:nvPr/>
          </p:nvGrpSpPr>
          <p:grpSpPr>
            <a:xfrm rot="0">
              <a:off x="0" y="0"/>
              <a:ext cx="10820400" cy="11177190"/>
              <a:chOff x="0" y="0"/>
              <a:chExt cx="2137363" cy="2207840"/>
            </a:xfrm>
          </p:grpSpPr>
          <p:sp>
            <p:nvSpPr>
              <p:cNvPr name="Freeform 6" id="6"/>
              <p:cNvSpPr/>
              <p:nvPr/>
            </p:nvSpPr>
            <p:spPr>
              <a:xfrm flipH="false" flipV="false" rot="0">
                <a:off x="0" y="0"/>
                <a:ext cx="2137363" cy="2207840"/>
              </a:xfrm>
              <a:custGeom>
                <a:avLst/>
                <a:gdLst/>
                <a:ahLst/>
                <a:cxnLst/>
                <a:rect r="r" b="b" t="t" l="l"/>
                <a:pathLst>
                  <a:path h="2207840" w="2137363">
                    <a:moveTo>
                      <a:pt x="19080" y="0"/>
                    </a:moveTo>
                    <a:lnTo>
                      <a:pt x="2118283" y="0"/>
                    </a:lnTo>
                    <a:cubicBezTo>
                      <a:pt x="2123343" y="0"/>
                      <a:pt x="2128196" y="2010"/>
                      <a:pt x="2131775" y="5588"/>
                    </a:cubicBezTo>
                    <a:cubicBezTo>
                      <a:pt x="2135353" y="9167"/>
                      <a:pt x="2137363" y="14020"/>
                      <a:pt x="2137363" y="19080"/>
                    </a:cubicBezTo>
                    <a:lnTo>
                      <a:pt x="2137363" y="2188760"/>
                    </a:lnTo>
                    <a:cubicBezTo>
                      <a:pt x="2137363" y="2199298"/>
                      <a:pt x="2128821" y="2207840"/>
                      <a:pt x="2118283" y="2207840"/>
                    </a:cubicBezTo>
                    <a:lnTo>
                      <a:pt x="19080" y="2207840"/>
                    </a:lnTo>
                    <a:cubicBezTo>
                      <a:pt x="8542" y="2207840"/>
                      <a:pt x="0" y="2199298"/>
                      <a:pt x="0" y="2188760"/>
                    </a:cubicBezTo>
                    <a:lnTo>
                      <a:pt x="0" y="19080"/>
                    </a:lnTo>
                    <a:cubicBezTo>
                      <a:pt x="0" y="8542"/>
                      <a:pt x="8542" y="0"/>
                      <a:pt x="19080"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2137363" cy="224594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05844" y="1898185"/>
              <a:ext cx="9366782" cy="45796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Project vision and mission</a:t>
              </a:r>
            </a:p>
          </p:txBody>
        </p:sp>
        <p:sp>
          <p:nvSpPr>
            <p:cNvPr name="TextBox 9" id="9"/>
            <p:cNvSpPr txBox="true"/>
            <p:nvPr/>
          </p:nvSpPr>
          <p:spPr>
            <a:xfrm rot="0">
              <a:off x="1332844" y="6895844"/>
              <a:ext cx="7860389" cy="3079750"/>
            </a:xfrm>
            <a:prstGeom prst="rect">
              <a:avLst/>
            </a:prstGeom>
          </p:spPr>
          <p:txBody>
            <a:bodyPr anchor="t" rtlCol="false" tIns="0" lIns="0" bIns="0" rIns="0">
              <a:spAutoFit/>
            </a:bodyPr>
            <a:lstStyle/>
            <a:p>
              <a:pPr algn="l" marL="0" indent="0" lvl="0">
                <a:lnSpc>
                  <a:spcPts val="2699"/>
                </a:lnSpc>
                <a:spcBef>
                  <a:spcPct val="0"/>
                </a:spcBef>
              </a:pPr>
              <a:r>
                <a:rPr lang="en-US" sz="1999" spc="119">
                  <a:solidFill>
                    <a:srgbClr val="FFFFFF"/>
                  </a:solidFill>
                  <a:latin typeface="Red Hat Display"/>
                  <a:ea typeface="Red Hat Display"/>
                  <a:cs typeface="Red Hat Display"/>
                  <a:sym typeface="Red Hat Display"/>
                </a:rPr>
                <a:t>“Th</a:t>
              </a:r>
              <a:r>
                <a:rPr lang="en-US" sz="1999" spc="119" u="none">
                  <a:solidFill>
                    <a:srgbClr val="FFFFFF"/>
                  </a:solidFill>
                  <a:latin typeface="Red Hat Display"/>
                  <a:ea typeface="Red Hat Display"/>
                  <a:cs typeface="Red Hat Display"/>
                  <a:sym typeface="Red Hat Display"/>
                </a:rPr>
                <a:t>e vision of my project is to help businesses understand their customers using data-driven techniques. The mission is to apply clustering algorithms to segment customers and generate insights that improve marketing and decision-making.”</a:t>
              </a:r>
            </a:p>
            <a:p>
              <a:pPr algn="l" marL="0" indent="0" lvl="0">
                <a:lnSpc>
                  <a:spcPts val="2699"/>
                </a:lnSpc>
                <a:spcBef>
                  <a:spcPct val="0"/>
                </a:spcBef>
              </a:pPr>
            </a:p>
          </p:txBody>
        </p:sp>
      </p:grpSp>
      <p:grpSp>
        <p:nvGrpSpPr>
          <p:cNvPr name="Group 10" id="10"/>
          <p:cNvGrpSpPr/>
          <p:nvPr/>
        </p:nvGrpSpPr>
        <p:grpSpPr>
          <a:xfrm rot="0">
            <a:off x="9321397" y="1095257"/>
            <a:ext cx="6998061" cy="8023496"/>
            <a:chOff x="0" y="0"/>
            <a:chExt cx="9330748" cy="10697995"/>
          </a:xfrm>
        </p:grpSpPr>
        <p:grpSp>
          <p:nvGrpSpPr>
            <p:cNvPr name="Group 11" id="11"/>
            <p:cNvGrpSpPr/>
            <p:nvPr/>
          </p:nvGrpSpPr>
          <p:grpSpPr>
            <a:xfrm rot="0">
              <a:off x="0" y="0"/>
              <a:ext cx="9330748" cy="3415370"/>
              <a:chOff x="0" y="0"/>
              <a:chExt cx="2342659" cy="857492"/>
            </a:xfrm>
          </p:grpSpPr>
          <p:sp>
            <p:nvSpPr>
              <p:cNvPr name="Freeform 12" id="12"/>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0" y="3689455"/>
              <a:ext cx="9330748" cy="3415370"/>
              <a:chOff x="0" y="0"/>
              <a:chExt cx="2342659" cy="857492"/>
            </a:xfrm>
          </p:grpSpPr>
          <p:sp>
            <p:nvSpPr>
              <p:cNvPr name="Freeform 15" id="15"/>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7282625"/>
              <a:ext cx="9330748" cy="3415370"/>
              <a:chOff x="0" y="0"/>
              <a:chExt cx="2342659" cy="857492"/>
            </a:xfrm>
          </p:grpSpPr>
          <p:sp>
            <p:nvSpPr>
              <p:cNvPr name="Freeform 18" id="18"/>
              <p:cNvSpPr/>
              <p:nvPr/>
            </p:nvSpPr>
            <p:spPr>
              <a:xfrm flipH="false" flipV="false" rot="0">
                <a:off x="0" y="0"/>
                <a:ext cx="2342659" cy="857492"/>
              </a:xfrm>
              <a:custGeom>
                <a:avLst/>
                <a:gdLst/>
                <a:ahLst/>
                <a:cxnLst/>
                <a:rect r="r" b="b" t="t" l="l"/>
                <a:pathLst>
                  <a:path h="857492" w="2342659">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name="TextBox 19" id="19"/>
              <p:cNvSpPr txBox="true"/>
              <p:nvPr/>
            </p:nvSpPr>
            <p:spPr>
              <a:xfrm>
                <a:off x="0" y="-38100"/>
                <a:ext cx="2342659" cy="89559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0" id="20"/>
            <p:cNvSpPr txBox="true"/>
            <p:nvPr/>
          </p:nvSpPr>
          <p:spPr>
            <a:xfrm rot="0">
              <a:off x="688245" y="1087920"/>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01.</a:t>
              </a:r>
            </a:p>
          </p:txBody>
        </p:sp>
        <p:sp>
          <p:nvSpPr>
            <p:cNvPr name="TextBox 21" id="21"/>
            <p:cNvSpPr txBox="true"/>
            <p:nvPr/>
          </p:nvSpPr>
          <p:spPr>
            <a:xfrm rot="0">
              <a:off x="688245" y="4777374"/>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02.</a:t>
              </a:r>
            </a:p>
          </p:txBody>
        </p:sp>
        <p:sp>
          <p:nvSpPr>
            <p:cNvPr name="TextBox 22" id="22"/>
            <p:cNvSpPr txBox="true"/>
            <p:nvPr/>
          </p:nvSpPr>
          <p:spPr>
            <a:xfrm rot="0">
              <a:off x="688245" y="8370545"/>
              <a:ext cx="2105270" cy="1430030"/>
            </a:xfrm>
            <a:prstGeom prst="rect">
              <a:avLst/>
            </a:prstGeom>
          </p:spPr>
          <p:txBody>
            <a:bodyPr anchor="t" rtlCol="false" tIns="0" lIns="0" bIns="0" rIns="0">
              <a:spAutoFit/>
            </a:bodyPr>
            <a:lstStyle/>
            <a:p>
              <a:pPr algn="l">
                <a:lnSpc>
                  <a:spcPts val="7680"/>
                </a:lnSpc>
              </a:pPr>
              <a:r>
                <a:rPr lang="en-US" sz="8000">
                  <a:solidFill>
                    <a:srgbClr val="FFFFFF"/>
                  </a:solidFill>
                  <a:latin typeface="Red Hat Display"/>
                  <a:ea typeface="Red Hat Display"/>
                  <a:cs typeface="Red Hat Display"/>
                  <a:sym typeface="Red Hat Display"/>
                </a:rPr>
                <a:t>03.</a:t>
              </a:r>
            </a:p>
          </p:txBody>
        </p:sp>
        <p:sp>
          <p:nvSpPr>
            <p:cNvPr name="TextBox 23" id="23"/>
            <p:cNvSpPr txBox="true"/>
            <p:nvPr/>
          </p:nvSpPr>
          <p:spPr>
            <a:xfrm rot="0">
              <a:off x="2793515" y="873881"/>
              <a:ext cx="5707214" cy="873174"/>
            </a:xfrm>
            <a:prstGeom prst="rect">
              <a:avLst/>
            </a:prstGeom>
          </p:spPr>
          <p:txBody>
            <a:bodyPr anchor="t" rtlCol="false" tIns="0" lIns="0" bIns="0" rIns="0">
              <a:spAutoFit/>
            </a:bodyPr>
            <a:lstStyle/>
            <a:p>
              <a:pPr algn="just" marL="0" indent="0" lvl="0">
                <a:lnSpc>
                  <a:spcPts val="2657"/>
                </a:lnSpc>
                <a:spcBef>
                  <a:spcPct val="0"/>
                </a:spcBef>
              </a:pPr>
              <a:r>
                <a:rPr lang="en-US" sz="1968" spc="31">
                  <a:solidFill>
                    <a:srgbClr val="FFFFFF"/>
                  </a:solidFill>
                  <a:latin typeface="Red Hat Display"/>
                  <a:ea typeface="Red Hat Display"/>
                  <a:cs typeface="Red Hat Display"/>
                  <a:sym typeface="Red Hat Display"/>
                </a:rPr>
                <a:t>D</a:t>
              </a:r>
              <a:r>
                <a:rPr lang="en-US" sz="1968" spc="31" u="none">
                  <a:solidFill>
                    <a:srgbClr val="FFFFFF"/>
                  </a:solidFill>
                  <a:latin typeface="Red Hat Display"/>
                  <a:ea typeface="Red Hat Display"/>
                  <a:cs typeface="Red Hat Display"/>
                  <a:sym typeface="Red Hat Display"/>
                </a:rPr>
                <a:t>evelop a data-driven system to understand customer behavior</a:t>
              </a:r>
            </a:p>
          </p:txBody>
        </p:sp>
        <p:sp>
          <p:nvSpPr>
            <p:cNvPr name="TextBox 24" id="24"/>
            <p:cNvSpPr txBox="true"/>
            <p:nvPr/>
          </p:nvSpPr>
          <p:spPr>
            <a:xfrm rot="0">
              <a:off x="2991226" y="4602120"/>
              <a:ext cx="5509503" cy="857250"/>
            </a:xfrm>
            <a:prstGeom prst="rect">
              <a:avLst/>
            </a:prstGeom>
          </p:spPr>
          <p:txBody>
            <a:bodyPr anchor="t" rtlCol="false" tIns="0" lIns="0" bIns="0" rIns="0">
              <a:spAutoFit/>
            </a:bodyPr>
            <a:lstStyle/>
            <a:p>
              <a:pPr algn="just" marL="0" indent="0" lvl="0">
                <a:lnSpc>
                  <a:spcPts val="2699"/>
                </a:lnSpc>
                <a:spcBef>
                  <a:spcPct val="0"/>
                </a:spcBef>
              </a:pPr>
              <a:r>
                <a:rPr lang="en-US" sz="1999" spc="31">
                  <a:solidFill>
                    <a:srgbClr val="FFFFFF"/>
                  </a:solidFill>
                  <a:latin typeface="Red Hat Display"/>
                  <a:ea typeface="Red Hat Display"/>
                  <a:cs typeface="Red Hat Display"/>
                  <a:sym typeface="Red Hat Display"/>
                </a:rPr>
                <a:t>A</a:t>
              </a:r>
              <a:r>
                <a:rPr lang="en-US" sz="1999" spc="31" u="none">
                  <a:solidFill>
                    <a:srgbClr val="FFFFFF"/>
                  </a:solidFill>
                  <a:latin typeface="Red Hat Display"/>
                  <a:ea typeface="Red Hat Display"/>
                  <a:cs typeface="Red Hat Display"/>
                  <a:sym typeface="Red Hat Display"/>
                </a:rPr>
                <a:t>pply clustering techniques to segment customers effectively</a:t>
              </a:r>
            </a:p>
          </p:txBody>
        </p:sp>
        <p:sp>
          <p:nvSpPr>
            <p:cNvPr name="TextBox 25" id="25"/>
            <p:cNvSpPr txBox="true"/>
            <p:nvPr/>
          </p:nvSpPr>
          <p:spPr>
            <a:xfrm rot="0">
              <a:off x="2991226" y="8195290"/>
              <a:ext cx="5509503" cy="857250"/>
            </a:xfrm>
            <a:prstGeom prst="rect">
              <a:avLst/>
            </a:prstGeom>
          </p:spPr>
          <p:txBody>
            <a:bodyPr anchor="t" rtlCol="false" tIns="0" lIns="0" bIns="0" rIns="0">
              <a:spAutoFit/>
            </a:bodyPr>
            <a:lstStyle/>
            <a:p>
              <a:pPr algn="just" marL="0" indent="0" lvl="0">
                <a:lnSpc>
                  <a:spcPts val="2699"/>
                </a:lnSpc>
                <a:spcBef>
                  <a:spcPct val="0"/>
                </a:spcBef>
              </a:pPr>
              <a:r>
                <a:rPr lang="en-US" sz="1999" spc="31">
                  <a:solidFill>
                    <a:srgbClr val="FFFFFF"/>
                  </a:solidFill>
                  <a:latin typeface="Red Hat Display"/>
                  <a:ea typeface="Red Hat Display"/>
                  <a:cs typeface="Red Hat Display"/>
                  <a:sym typeface="Red Hat Display"/>
                </a:rPr>
                <a:t>Enabl</a:t>
              </a:r>
              <a:r>
                <a:rPr lang="en-US" sz="1999" spc="31" u="none">
                  <a:solidFill>
                    <a:srgbClr val="FFFFFF"/>
                  </a:solidFill>
                  <a:latin typeface="Red Hat Display"/>
                  <a:ea typeface="Red Hat Display"/>
                  <a:cs typeface="Red Hat Display"/>
                  <a:sym typeface="Red Hat Display"/>
                </a:rPr>
                <a:t>e better business decisions through actionable insights</a:t>
              </a:r>
            </a:p>
          </p:txBody>
        </p:sp>
      </p:grpSp>
      <p:sp>
        <p:nvSpPr>
          <p:cNvPr name="Freeform 26" id="26"/>
          <p:cNvSpPr/>
          <p:nvPr/>
        </p:nvSpPr>
        <p:spPr>
          <a:xfrm flipH="false" flipV="false" rot="0">
            <a:off x="16500433" y="8222333"/>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844239" y="32220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grpSp>
        <p:nvGrpSpPr>
          <p:cNvPr name="Group 4" id="4"/>
          <p:cNvGrpSpPr/>
          <p:nvPr/>
        </p:nvGrpSpPr>
        <p:grpSpPr>
          <a:xfrm rot="0">
            <a:off x="1028700" y="1413758"/>
            <a:ext cx="10284037" cy="7397641"/>
            <a:chOff x="0" y="0"/>
            <a:chExt cx="13712050" cy="9863521"/>
          </a:xfrm>
        </p:grpSpPr>
        <p:grpSp>
          <p:nvGrpSpPr>
            <p:cNvPr name="Group 5" id="5"/>
            <p:cNvGrpSpPr/>
            <p:nvPr/>
          </p:nvGrpSpPr>
          <p:grpSpPr>
            <a:xfrm rot="0">
              <a:off x="0" y="0"/>
              <a:ext cx="13712050" cy="9863521"/>
              <a:chOff x="0" y="0"/>
              <a:chExt cx="2708553" cy="1948350"/>
            </a:xfrm>
          </p:grpSpPr>
          <p:sp>
            <p:nvSpPr>
              <p:cNvPr name="Freeform 6" id="6"/>
              <p:cNvSpPr/>
              <p:nvPr/>
            </p:nvSpPr>
            <p:spPr>
              <a:xfrm flipH="false" flipV="false" rot="0">
                <a:off x="0" y="0"/>
                <a:ext cx="2708553" cy="1948350"/>
              </a:xfrm>
              <a:custGeom>
                <a:avLst/>
                <a:gdLst/>
                <a:ahLst/>
                <a:cxnLst/>
                <a:rect r="r" b="b" t="t" l="l"/>
                <a:pathLst>
                  <a:path h="1948350" w="2708553">
                    <a:moveTo>
                      <a:pt x="15056" y="0"/>
                    </a:moveTo>
                    <a:lnTo>
                      <a:pt x="2693497" y="0"/>
                    </a:lnTo>
                    <a:cubicBezTo>
                      <a:pt x="2701812" y="0"/>
                      <a:pt x="2708553" y="6741"/>
                      <a:pt x="2708553" y="15056"/>
                    </a:cubicBezTo>
                    <a:lnTo>
                      <a:pt x="2708553" y="1933294"/>
                    </a:lnTo>
                    <a:cubicBezTo>
                      <a:pt x="2708553" y="1941609"/>
                      <a:pt x="2701812" y="1948350"/>
                      <a:pt x="2693497" y="1948350"/>
                    </a:cubicBezTo>
                    <a:lnTo>
                      <a:pt x="15056" y="1948350"/>
                    </a:lnTo>
                    <a:cubicBezTo>
                      <a:pt x="11063" y="1948350"/>
                      <a:pt x="7233" y="1946764"/>
                      <a:pt x="4410" y="1943940"/>
                    </a:cubicBezTo>
                    <a:cubicBezTo>
                      <a:pt x="1586" y="1941116"/>
                      <a:pt x="0" y="1937287"/>
                      <a:pt x="0" y="1933294"/>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2708553" cy="198645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46955" y="1198034"/>
              <a:ext cx="10472323" cy="31064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Inspiration &amp; creativity</a:t>
              </a:r>
            </a:p>
          </p:txBody>
        </p:sp>
        <p:sp>
          <p:nvSpPr>
            <p:cNvPr name="TextBox 9" id="9"/>
            <p:cNvSpPr txBox="true"/>
            <p:nvPr/>
          </p:nvSpPr>
          <p:spPr>
            <a:xfrm rot="0">
              <a:off x="1246955" y="4544115"/>
              <a:ext cx="9344845" cy="3968750"/>
            </a:xfrm>
            <a:prstGeom prst="rect">
              <a:avLst/>
            </a:prstGeom>
          </p:spPr>
          <p:txBody>
            <a:bodyPr anchor="t" rtlCol="false" tIns="0" lIns="0" bIns="0" rIns="0">
              <a:spAutoFit/>
            </a:bodyPr>
            <a:lstStyle/>
            <a:p>
              <a:pPr algn="l" marL="0" indent="0" lvl="0">
                <a:lnSpc>
                  <a:spcPts val="2699"/>
                </a:lnSpc>
                <a:spcBef>
                  <a:spcPct val="0"/>
                </a:spcBef>
              </a:pPr>
              <a:r>
                <a:rPr lang="en-US" sz="1999" spc="119">
                  <a:solidFill>
                    <a:srgbClr val="FFFFFF"/>
                  </a:solidFill>
                  <a:latin typeface="Red Hat Display"/>
                  <a:ea typeface="Red Hat Display"/>
                  <a:cs typeface="Red Hat Display"/>
                  <a:sym typeface="Red Hat Display"/>
                </a:rPr>
                <a:t>Th</a:t>
              </a:r>
              <a:r>
                <a:rPr lang="en-US" sz="1999" spc="119" u="none">
                  <a:solidFill>
                    <a:srgbClr val="FFFFFF"/>
                  </a:solidFill>
                  <a:latin typeface="Red Hat Display"/>
                  <a:ea typeface="Red Hat Display"/>
                  <a:cs typeface="Red Hat Display"/>
                  <a:sym typeface="Red Hat Display"/>
                </a:rPr>
                <a:t>e inspiration for this project came from the growing importance of data-driven decision-making in modern businesses. Many organizations struggle to understand customer behavior effectively, which impacts their marketing and retention strategies. This project creatively applies machine learning techniques, particularly clustering, to transform raw customer data into meaningful insights, helping businesses make smarter and more strategic decisions.</a:t>
              </a:r>
            </a:p>
          </p:txBody>
        </p:sp>
      </p:grpSp>
      <p:grpSp>
        <p:nvGrpSpPr>
          <p:cNvPr name="Group 10" id="10"/>
          <p:cNvGrpSpPr/>
          <p:nvPr/>
        </p:nvGrpSpPr>
        <p:grpSpPr>
          <a:xfrm rot="0">
            <a:off x="11864221" y="-2940398"/>
            <a:ext cx="5395079" cy="15773061"/>
            <a:chOff x="0" y="0"/>
            <a:chExt cx="7193439" cy="21030749"/>
          </a:xfrm>
        </p:grpSpPr>
        <p:sp>
          <p:nvSpPr>
            <p:cNvPr name="Freeform 11" id="11"/>
            <p:cNvSpPr/>
            <p:nvPr/>
          </p:nvSpPr>
          <p:spPr>
            <a:xfrm flipH="false" flipV="false" rot="0">
              <a:off x="5998212" y="15069703"/>
              <a:ext cx="1195227" cy="1195227"/>
            </a:xfrm>
            <a:custGeom>
              <a:avLst/>
              <a:gdLst/>
              <a:ahLst/>
              <a:cxnLst/>
              <a:rect r="r" b="b" t="t" l="l"/>
              <a:pathLst>
                <a:path h="1195227" w="1195227">
                  <a:moveTo>
                    <a:pt x="0" y="0"/>
                  </a:moveTo>
                  <a:lnTo>
                    <a:pt x="1195227" y="0"/>
                  </a:lnTo>
                  <a:lnTo>
                    <a:pt x="1195227" y="1195227"/>
                  </a:lnTo>
                  <a:lnTo>
                    <a:pt x="0" y="1195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2" id="12"/>
            <p:cNvSpPr/>
            <p:nvPr/>
          </p:nvSpPr>
          <p:spPr>
            <a:xfrm flipV="true">
              <a:off x="263156" y="0"/>
              <a:ext cx="0" cy="21030749"/>
            </a:xfrm>
            <a:prstGeom prst="line">
              <a:avLst/>
            </a:prstGeom>
            <a:ln cap="flat" w="25400">
              <a:solidFill>
                <a:srgbClr val="F4F4ED"/>
              </a:solidFill>
              <a:prstDash val="solid"/>
              <a:headEnd type="none" len="sm" w="sm"/>
              <a:tailEnd type="none" len="sm" w="sm"/>
            </a:ln>
          </p:spPr>
        </p:sp>
        <p:grpSp>
          <p:nvGrpSpPr>
            <p:cNvPr name="Group 13" id="13"/>
            <p:cNvGrpSpPr/>
            <p:nvPr/>
          </p:nvGrpSpPr>
          <p:grpSpPr>
            <a:xfrm rot="-5400000">
              <a:off x="0" y="13625970"/>
              <a:ext cx="526312" cy="5263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5" id="15"/>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6" id="16"/>
            <p:cNvGrpSpPr/>
            <p:nvPr/>
          </p:nvGrpSpPr>
          <p:grpSpPr>
            <a:xfrm rot="-5400000">
              <a:off x="0" y="9912006"/>
              <a:ext cx="526312" cy="5263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8" id="1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9" id="19"/>
            <p:cNvGrpSpPr/>
            <p:nvPr/>
          </p:nvGrpSpPr>
          <p:grpSpPr>
            <a:xfrm rot="-5400000">
              <a:off x="0" y="6044900"/>
              <a:ext cx="526312" cy="52631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21" id="21"/>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2" id="22"/>
            <p:cNvSpPr txBox="true"/>
            <p:nvPr/>
          </p:nvSpPr>
          <p:spPr>
            <a:xfrm rot="0">
              <a:off x="832689" y="5881742"/>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23" id="23"/>
            <p:cNvSpPr txBox="true"/>
            <p:nvPr/>
          </p:nvSpPr>
          <p:spPr>
            <a:xfrm rot="0">
              <a:off x="832689" y="9747595"/>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4" id="24"/>
            <p:cNvSpPr txBox="true"/>
            <p:nvPr/>
          </p:nvSpPr>
          <p:spPr>
            <a:xfrm rot="0">
              <a:off x="832689" y="7025801"/>
              <a:ext cx="4702057" cy="2123060"/>
            </a:xfrm>
            <a:prstGeom prst="rect">
              <a:avLst/>
            </a:prstGeom>
          </p:spPr>
          <p:txBody>
            <a:bodyPr anchor="t" rtlCol="false" tIns="0" lIns="0" bIns="0" rIns="0">
              <a:spAutoFit/>
            </a:bodyPr>
            <a:lstStyle/>
            <a:p>
              <a:pPr algn="l">
                <a:lnSpc>
                  <a:spcPts val="3275"/>
                </a:lnSpc>
              </a:pPr>
              <a:r>
                <a:rPr lang="en-US" sz="2099">
                  <a:solidFill>
                    <a:srgbClr val="FFFFFF"/>
                  </a:solidFill>
                  <a:latin typeface="Red Hat Display"/>
                  <a:ea typeface="Red Hat Display"/>
                  <a:cs typeface="Red Hat Display"/>
                  <a:sym typeface="Red Hat Display"/>
                </a:rPr>
                <a:t>Inspired by the need to understand customer behavior in real-world businesses</a:t>
              </a:r>
            </a:p>
          </p:txBody>
        </p:sp>
        <p:sp>
          <p:nvSpPr>
            <p:cNvPr name="TextBox 25" id="25"/>
            <p:cNvSpPr txBox="true"/>
            <p:nvPr/>
          </p:nvSpPr>
          <p:spPr>
            <a:xfrm rot="0">
              <a:off x="832689" y="10891654"/>
              <a:ext cx="5027825" cy="2027556"/>
            </a:xfrm>
            <a:prstGeom prst="rect">
              <a:avLst/>
            </a:prstGeom>
          </p:spPr>
          <p:txBody>
            <a:bodyPr anchor="t" rtlCol="false" tIns="0" lIns="0" bIns="0" rIns="0">
              <a:spAutoFit/>
            </a:bodyPr>
            <a:lstStyle/>
            <a:p>
              <a:pPr algn="l">
                <a:lnSpc>
                  <a:spcPts val="3119"/>
                </a:lnSpc>
              </a:pPr>
              <a:r>
                <a:rPr lang="en-US" sz="1999">
                  <a:solidFill>
                    <a:srgbClr val="FFFFFF"/>
                  </a:solidFill>
                  <a:latin typeface="Red Hat Display"/>
                  <a:ea typeface="Red Hat Display"/>
                  <a:cs typeface="Red Hat Display"/>
                  <a:sym typeface="Red Hat Display"/>
                </a:rPr>
                <a:t>C</a:t>
              </a:r>
              <a:r>
                <a:rPr lang="en-US" sz="1999">
                  <a:solidFill>
                    <a:srgbClr val="FFFFFF"/>
                  </a:solidFill>
                  <a:latin typeface="Red Hat Display"/>
                  <a:ea typeface="Red Hat Display"/>
                  <a:cs typeface="Red Hat Display"/>
                  <a:sym typeface="Red Hat Display"/>
                </a:rPr>
                <a:t>onverted raw data into actionable insights for business growth</a:t>
              </a:r>
            </a:p>
            <a:p>
              <a:pPr algn="l">
                <a:lnSpc>
                  <a:spcPts val="3119"/>
                </a:lnSpc>
              </a:pPr>
            </a:p>
          </p:txBody>
        </p:sp>
        <p:sp>
          <p:nvSpPr>
            <p:cNvPr name="TextBox 26" id="26"/>
            <p:cNvSpPr txBox="true"/>
            <p:nvPr/>
          </p:nvSpPr>
          <p:spPr>
            <a:xfrm rot="0">
              <a:off x="832689" y="13455572"/>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7" id="27"/>
            <p:cNvSpPr txBox="true"/>
            <p:nvPr/>
          </p:nvSpPr>
          <p:spPr>
            <a:xfrm rot="0">
              <a:off x="832689" y="14599632"/>
              <a:ext cx="4793465" cy="1506856"/>
            </a:xfrm>
            <a:prstGeom prst="rect">
              <a:avLst/>
            </a:prstGeom>
          </p:spPr>
          <p:txBody>
            <a:bodyPr anchor="t" rtlCol="false" tIns="0" lIns="0" bIns="0" rIns="0">
              <a:spAutoFit/>
            </a:bodyPr>
            <a:lstStyle/>
            <a:p>
              <a:pPr algn="l">
                <a:lnSpc>
                  <a:spcPts val="3119"/>
                </a:lnSpc>
              </a:pPr>
              <a:r>
                <a:rPr lang="en-US" sz="1999">
                  <a:solidFill>
                    <a:srgbClr val="FFFFFF"/>
                  </a:solidFill>
                  <a:latin typeface="Red Hat Display"/>
                  <a:ea typeface="Red Hat Display"/>
                  <a:cs typeface="Red Hat Display"/>
                  <a:sym typeface="Red Hat Display"/>
                </a:rPr>
                <a:t>A</a:t>
              </a:r>
              <a:r>
                <a:rPr lang="en-US" sz="1999">
                  <a:solidFill>
                    <a:srgbClr val="FFFFFF"/>
                  </a:solidFill>
                  <a:latin typeface="Red Hat Display"/>
                  <a:ea typeface="Red Hat Display"/>
                  <a:cs typeface="Red Hat Display"/>
                  <a:sym typeface="Red Hat Display"/>
                </a:rPr>
                <a:t>pplied machine learning (clustering) in a creative way to solve the problem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752387" y="2269608"/>
            <a:ext cx="12783226" cy="1177290"/>
          </a:xfrm>
          <a:prstGeom prst="rect">
            <a:avLst/>
          </a:prstGeom>
        </p:spPr>
        <p:txBody>
          <a:bodyPr anchor="t" rtlCol="false" tIns="0" lIns="0" bIns="0" rIns="0">
            <a:spAutoFit/>
          </a:bodyPr>
          <a:lstStyle/>
          <a:p>
            <a:pPr algn="ctr" marL="0" indent="0" lvl="1">
              <a:lnSpc>
                <a:spcPts val="8730"/>
              </a:lnSpc>
              <a:spcBef>
                <a:spcPct val="0"/>
              </a:spcBef>
            </a:pPr>
            <a:r>
              <a:rPr lang="en-US" sz="9000">
                <a:solidFill>
                  <a:srgbClr val="FFFFFF"/>
                </a:solidFill>
                <a:latin typeface="Archivo Black"/>
                <a:ea typeface="Archivo Black"/>
                <a:cs typeface="Archivo Black"/>
                <a:sym typeface="Archivo Black"/>
              </a:rPr>
              <a:t>Ideation Process</a:t>
            </a:r>
          </a:p>
        </p:txBody>
      </p:sp>
      <p:grpSp>
        <p:nvGrpSpPr>
          <p:cNvPr name="Group 4" id="4"/>
          <p:cNvGrpSpPr/>
          <p:nvPr/>
        </p:nvGrpSpPr>
        <p:grpSpPr>
          <a:xfrm rot="0">
            <a:off x="-886757" y="4395781"/>
            <a:ext cx="20061513" cy="4187806"/>
            <a:chOff x="0" y="0"/>
            <a:chExt cx="26748685" cy="5583741"/>
          </a:xfrm>
        </p:grpSpPr>
        <p:sp>
          <p:nvSpPr>
            <p:cNvPr name="AutoShape 5" id="5"/>
            <p:cNvSpPr/>
            <p:nvPr/>
          </p:nvSpPr>
          <p:spPr>
            <a:xfrm>
              <a:off x="0" y="334704"/>
              <a:ext cx="26748685" cy="0"/>
            </a:xfrm>
            <a:prstGeom prst="line">
              <a:avLst/>
            </a:prstGeom>
            <a:ln cap="flat" w="38100">
              <a:solidFill>
                <a:srgbClr val="F4F4ED"/>
              </a:solidFill>
              <a:prstDash val="solid"/>
              <a:headEnd type="none" len="sm" w="sm"/>
              <a:tailEnd type="none" len="sm" w="sm"/>
            </a:ln>
          </p:spPr>
        </p:sp>
        <p:grpSp>
          <p:nvGrpSpPr>
            <p:cNvPr name="Group 6" id="6"/>
            <p:cNvGrpSpPr/>
            <p:nvPr/>
          </p:nvGrpSpPr>
          <p:grpSpPr>
            <a:xfrm rot="0">
              <a:off x="9089229" y="0"/>
              <a:ext cx="669408" cy="6694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8" id="8"/>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9" id="9"/>
            <p:cNvGrpSpPr/>
            <p:nvPr/>
          </p:nvGrpSpPr>
          <p:grpSpPr>
            <a:xfrm rot="0">
              <a:off x="4151764" y="0"/>
              <a:ext cx="669408" cy="66940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sp>
          <p:sp>
            <p:nvSpPr>
              <p:cNvPr name="TextBox 11" id="11"/>
              <p:cNvSpPr txBox="true"/>
              <p:nvPr/>
            </p:nvSpPr>
            <p:spPr>
              <a:xfrm>
                <a:off x="190500" y="228600"/>
                <a:ext cx="431800" cy="393700"/>
              </a:xfrm>
              <a:prstGeom prst="rect">
                <a:avLst/>
              </a:prstGeom>
            </p:spPr>
            <p:txBody>
              <a:bodyPr anchor="ctr" rtlCol="false" tIns="50800" lIns="50800" bIns="50800" rIns="50800"/>
              <a:lstStyle/>
              <a:p>
                <a:pPr algn="ctr">
                  <a:lnSpc>
                    <a:spcPts val="2266"/>
                  </a:lnSpc>
                </a:pPr>
              </a:p>
            </p:txBody>
          </p:sp>
        </p:grpSp>
        <p:grpSp>
          <p:nvGrpSpPr>
            <p:cNvPr name="Group 12" id="12"/>
            <p:cNvGrpSpPr/>
            <p:nvPr/>
          </p:nvGrpSpPr>
          <p:grpSpPr>
            <a:xfrm rot="0">
              <a:off x="14053845" y="0"/>
              <a:ext cx="669408" cy="66940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4" id="14"/>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grpSp>
          <p:nvGrpSpPr>
            <p:cNvPr name="Group 15" id="15"/>
            <p:cNvGrpSpPr/>
            <p:nvPr/>
          </p:nvGrpSpPr>
          <p:grpSpPr>
            <a:xfrm rot="0">
              <a:off x="19043861" y="0"/>
              <a:ext cx="669408" cy="66940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name="TextBox 17" id="17"/>
              <p:cNvSpPr txBox="true"/>
              <p:nvPr/>
            </p:nvSpPr>
            <p:spPr>
              <a:xfrm>
                <a:off x="190500" y="228600"/>
                <a:ext cx="431800" cy="39370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8" id="18"/>
            <p:cNvSpPr txBox="true"/>
            <p:nvPr/>
          </p:nvSpPr>
          <p:spPr>
            <a:xfrm rot="0">
              <a:off x="4151764"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01</a:t>
              </a:r>
            </a:p>
          </p:txBody>
        </p:sp>
        <p:sp>
          <p:nvSpPr>
            <p:cNvPr name="TextBox 19" id="19"/>
            <p:cNvSpPr txBox="true"/>
            <p:nvPr/>
          </p:nvSpPr>
          <p:spPr>
            <a:xfrm rot="0">
              <a:off x="9113633"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02</a:t>
              </a:r>
            </a:p>
          </p:txBody>
        </p:sp>
        <p:sp>
          <p:nvSpPr>
            <p:cNvPr name="TextBox 20" id="20"/>
            <p:cNvSpPr txBox="true"/>
            <p:nvPr/>
          </p:nvSpPr>
          <p:spPr>
            <a:xfrm rot="0">
              <a:off x="4151764" y="2193878"/>
              <a:ext cx="3528656" cy="19246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Pr</a:t>
              </a:r>
              <a:r>
                <a:rPr lang="en-US" sz="1500">
                  <a:solidFill>
                    <a:srgbClr val="FFFFFF"/>
                  </a:solidFill>
                  <a:latin typeface="Red Hat Display"/>
                  <a:ea typeface="Red Hat Display"/>
                  <a:cs typeface="Red Hat Display"/>
                  <a:sym typeface="Red Hat Display"/>
                </a:rPr>
                <a:t>oblem Identification</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Identified the challenge of understanding customer behavior and segmentation</a:t>
              </a:r>
            </a:p>
            <a:p>
              <a:pPr algn="l">
                <a:lnSpc>
                  <a:spcPts val="2340"/>
                </a:lnSpc>
              </a:pPr>
            </a:p>
          </p:txBody>
        </p:sp>
        <p:sp>
          <p:nvSpPr>
            <p:cNvPr name="TextBox 21" id="21"/>
            <p:cNvSpPr txBox="true"/>
            <p:nvPr/>
          </p:nvSpPr>
          <p:spPr>
            <a:xfrm rot="0">
              <a:off x="9113633" y="2193878"/>
              <a:ext cx="3643816" cy="19246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R</a:t>
              </a:r>
              <a:r>
                <a:rPr lang="en-US" sz="1500">
                  <a:solidFill>
                    <a:srgbClr val="FFFFFF"/>
                  </a:solidFill>
                  <a:latin typeface="Red Hat Display"/>
                  <a:ea typeface="Red Hat Display"/>
                  <a:cs typeface="Red Hat Display"/>
                  <a:sym typeface="Red Hat Display"/>
                </a:rPr>
                <a:t>esearch &amp; Analysis</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Studied existing solutions like clustering and customer analytics techniques</a:t>
              </a:r>
            </a:p>
            <a:p>
              <a:pPr algn="l">
                <a:lnSpc>
                  <a:spcPts val="2340"/>
                </a:lnSpc>
              </a:pPr>
            </a:p>
          </p:txBody>
        </p:sp>
        <p:sp>
          <p:nvSpPr>
            <p:cNvPr name="TextBox 22" id="22"/>
            <p:cNvSpPr txBox="true"/>
            <p:nvPr/>
          </p:nvSpPr>
          <p:spPr>
            <a:xfrm rot="0">
              <a:off x="14078249"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03</a:t>
              </a:r>
            </a:p>
          </p:txBody>
        </p:sp>
        <p:sp>
          <p:nvSpPr>
            <p:cNvPr name="TextBox 23" id="23"/>
            <p:cNvSpPr txBox="true"/>
            <p:nvPr/>
          </p:nvSpPr>
          <p:spPr>
            <a:xfrm rot="0">
              <a:off x="14078249" y="2193878"/>
              <a:ext cx="3663988" cy="19246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S</a:t>
              </a:r>
              <a:r>
                <a:rPr lang="en-US" sz="1500">
                  <a:solidFill>
                    <a:srgbClr val="FFFFFF"/>
                  </a:solidFill>
                  <a:latin typeface="Red Hat Display"/>
                  <a:ea typeface="Red Hat Display"/>
                  <a:cs typeface="Red Hat Display"/>
                  <a:sym typeface="Red Hat Display"/>
                </a:rPr>
                <a:t>olution Design</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Planned to use machine learning (K-Means, etc.) for customer segmentation</a:t>
              </a:r>
            </a:p>
            <a:p>
              <a:pPr algn="l">
                <a:lnSpc>
                  <a:spcPts val="2340"/>
                </a:lnSpc>
              </a:pPr>
            </a:p>
          </p:txBody>
        </p:sp>
        <p:sp>
          <p:nvSpPr>
            <p:cNvPr name="TextBox 24" id="24"/>
            <p:cNvSpPr txBox="true"/>
            <p:nvPr/>
          </p:nvSpPr>
          <p:spPr>
            <a:xfrm rot="0">
              <a:off x="19068264" y="1030769"/>
              <a:ext cx="2929765" cy="931334"/>
            </a:xfrm>
            <a:prstGeom prst="rect">
              <a:avLst/>
            </a:prstGeom>
          </p:spPr>
          <p:txBody>
            <a:bodyPr anchor="t" rtlCol="false" tIns="0" lIns="0" bIns="0" rIns="0">
              <a:spAutoFit/>
            </a:bodyPr>
            <a:lstStyle/>
            <a:p>
              <a:pPr algn="l">
                <a:lnSpc>
                  <a:spcPts val="5150"/>
                </a:lnSpc>
              </a:pPr>
              <a:r>
                <a:rPr lang="en-US" sz="5000" b="true">
                  <a:solidFill>
                    <a:srgbClr val="FFFFFF"/>
                  </a:solidFill>
                  <a:latin typeface="Red Hat Display Bold"/>
                  <a:ea typeface="Red Hat Display Bold"/>
                  <a:cs typeface="Red Hat Display Bold"/>
                  <a:sym typeface="Red Hat Display Bold"/>
                </a:rPr>
                <a:t>04</a:t>
              </a:r>
            </a:p>
          </p:txBody>
        </p:sp>
        <p:sp>
          <p:nvSpPr>
            <p:cNvPr name="TextBox 25" id="25"/>
            <p:cNvSpPr txBox="true"/>
            <p:nvPr/>
          </p:nvSpPr>
          <p:spPr>
            <a:xfrm rot="0">
              <a:off x="19068264" y="2193878"/>
              <a:ext cx="3528656" cy="2318385"/>
            </a:xfrm>
            <a:prstGeom prst="rect">
              <a:avLst/>
            </a:prstGeom>
          </p:spPr>
          <p:txBody>
            <a:bodyPr anchor="t" rtlCol="false" tIns="0" lIns="0" bIns="0" rIns="0">
              <a:spAutoFit/>
            </a:bodyPr>
            <a:lstStyle/>
            <a:p>
              <a:pPr algn="l">
                <a:lnSpc>
                  <a:spcPts val="2340"/>
                </a:lnSpc>
              </a:pPr>
              <a:r>
                <a:rPr lang="en-US" sz="1500">
                  <a:solidFill>
                    <a:srgbClr val="FFFFFF"/>
                  </a:solidFill>
                  <a:latin typeface="Red Hat Display"/>
                  <a:ea typeface="Red Hat Display"/>
                  <a:cs typeface="Red Hat Display"/>
                  <a:sym typeface="Red Hat Display"/>
                </a:rPr>
                <a:t>Impl</a:t>
              </a:r>
              <a:r>
                <a:rPr lang="en-US" sz="1500">
                  <a:solidFill>
                    <a:srgbClr val="FFFFFF"/>
                  </a:solidFill>
                  <a:latin typeface="Red Hat Display"/>
                  <a:ea typeface="Red Hat Display"/>
                  <a:cs typeface="Red Hat Display"/>
                  <a:sym typeface="Red Hat Display"/>
                </a:rPr>
                <a:t>ementation &amp; Refinement</a:t>
              </a:r>
            </a:p>
            <a:p>
              <a:pPr algn="l" marL="323850" indent="-161925" lvl="1">
                <a:lnSpc>
                  <a:spcPts val="2340"/>
                </a:lnSpc>
                <a:buFont typeface="Arial"/>
                <a:buChar char="•"/>
              </a:pPr>
              <a:r>
                <a:rPr lang="en-US" sz="1500">
                  <a:solidFill>
                    <a:srgbClr val="FFFFFF"/>
                  </a:solidFill>
                  <a:latin typeface="Red Hat Display"/>
                  <a:ea typeface="Red Hat Display"/>
                  <a:cs typeface="Red Hat Display"/>
                  <a:sym typeface="Red Hat Display"/>
                </a:rPr>
                <a:t>Applied algorithms, evaluated results, and improved model performance</a:t>
              </a:r>
            </a:p>
            <a:p>
              <a:pPr algn="l">
                <a:lnSpc>
                  <a:spcPts val="2340"/>
                </a:lnSpc>
              </a:pPr>
            </a:p>
          </p:txBody>
        </p:sp>
        <p:sp>
          <p:nvSpPr>
            <p:cNvPr name="Freeform 26" id="26"/>
            <p:cNvSpPr/>
            <p:nvPr/>
          </p:nvSpPr>
          <p:spPr>
            <a:xfrm flipH="false" flipV="false" rot="0">
              <a:off x="22999515" y="4388514"/>
              <a:ext cx="1195227" cy="1195227"/>
            </a:xfrm>
            <a:custGeom>
              <a:avLst/>
              <a:gdLst/>
              <a:ahLst/>
              <a:cxnLst/>
              <a:rect r="r" b="b" t="t" l="l"/>
              <a:pathLst>
                <a:path h="1195227" w="1195227">
                  <a:moveTo>
                    <a:pt x="0" y="0"/>
                  </a:moveTo>
                  <a:lnTo>
                    <a:pt x="1195227" y="0"/>
                  </a:lnTo>
                  <a:lnTo>
                    <a:pt x="1195227" y="1195227"/>
                  </a:lnTo>
                  <a:lnTo>
                    <a:pt x="0" y="1195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6626729">
            <a:off x="11878550" y="2429250"/>
            <a:ext cx="12221289" cy="8822969"/>
          </a:xfrm>
          <a:custGeom>
            <a:avLst/>
            <a:gdLst/>
            <a:ahLst/>
            <a:cxnLst/>
            <a:rect r="r" b="b" t="t" l="l"/>
            <a:pathLst>
              <a:path h="8822969" w="12221289">
                <a:moveTo>
                  <a:pt x="0" y="0"/>
                </a:moveTo>
                <a:lnTo>
                  <a:pt x="12221289" y="0"/>
                </a:lnTo>
                <a:lnTo>
                  <a:pt x="12221289" y="8822969"/>
                </a:lnTo>
                <a:lnTo>
                  <a:pt x="0" y="8822969"/>
                </a:lnTo>
                <a:lnTo>
                  <a:pt x="0" y="0"/>
                </a:lnTo>
                <a:close/>
              </a:path>
            </a:pathLst>
          </a:custGeom>
          <a:blipFill>
            <a:blip r:embed="rId3"/>
            <a:stretch>
              <a:fillRect l="0" t="0" r="0" b="0"/>
            </a:stretch>
          </a:blipFill>
        </p:spPr>
      </p:sp>
      <p:grpSp>
        <p:nvGrpSpPr>
          <p:cNvPr name="Group 4" id="4"/>
          <p:cNvGrpSpPr/>
          <p:nvPr/>
        </p:nvGrpSpPr>
        <p:grpSpPr>
          <a:xfrm rot="0">
            <a:off x="1028700" y="1794704"/>
            <a:ext cx="13851811" cy="8397766"/>
            <a:chOff x="0" y="0"/>
            <a:chExt cx="18469082" cy="11197021"/>
          </a:xfrm>
        </p:grpSpPr>
        <p:grpSp>
          <p:nvGrpSpPr>
            <p:cNvPr name="Group 5" id="5"/>
            <p:cNvGrpSpPr/>
            <p:nvPr/>
          </p:nvGrpSpPr>
          <p:grpSpPr>
            <a:xfrm rot="0">
              <a:off x="0" y="0"/>
              <a:ext cx="18469082" cy="11197021"/>
              <a:chOff x="0" y="0"/>
              <a:chExt cx="3648214" cy="2211757"/>
            </a:xfrm>
          </p:grpSpPr>
          <p:sp>
            <p:nvSpPr>
              <p:cNvPr name="Freeform 6" id="6"/>
              <p:cNvSpPr/>
              <p:nvPr/>
            </p:nvSpPr>
            <p:spPr>
              <a:xfrm flipH="false" flipV="false" rot="0">
                <a:off x="0" y="0"/>
                <a:ext cx="3648214" cy="2211757"/>
              </a:xfrm>
              <a:custGeom>
                <a:avLst/>
                <a:gdLst/>
                <a:ahLst/>
                <a:cxnLst/>
                <a:rect r="r" b="b" t="t" l="l"/>
                <a:pathLst>
                  <a:path h="2211757" w="3648214">
                    <a:moveTo>
                      <a:pt x="11178" y="0"/>
                    </a:moveTo>
                    <a:lnTo>
                      <a:pt x="3637035" y="0"/>
                    </a:lnTo>
                    <a:cubicBezTo>
                      <a:pt x="3643209" y="0"/>
                      <a:pt x="3648214" y="5005"/>
                      <a:pt x="3648214" y="11178"/>
                    </a:cubicBezTo>
                    <a:lnTo>
                      <a:pt x="3648214" y="2200579"/>
                    </a:lnTo>
                    <a:cubicBezTo>
                      <a:pt x="3648214" y="2206753"/>
                      <a:pt x="3643209" y="2211757"/>
                      <a:pt x="3637035" y="2211757"/>
                    </a:cubicBezTo>
                    <a:lnTo>
                      <a:pt x="11178" y="2211757"/>
                    </a:lnTo>
                    <a:cubicBezTo>
                      <a:pt x="5005" y="2211757"/>
                      <a:pt x="0" y="2206753"/>
                      <a:pt x="0" y="2200579"/>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3648214" cy="224985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282925" y="1141085"/>
              <a:ext cx="14095560" cy="3106420"/>
            </a:xfrm>
            <a:prstGeom prst="rect">
              <a:avLst/>
            </a:prstGeom>
          </p:spPr>
          <p:txBody>
            <a:bodyPr anchor="t" rtlCol="false" tIns="0" lIns="0" bIns="0" rIns="0">
              <a:spAutoFit/>
            </a:bodyPr>
            <a:lstStyle/>
            <a:p>
              <a:pPr algn="l">
                <a:lnSpc>
                  <a:spcPts val="8730"/>
                </a:lnSpc>
              </a:pPr>
              <a:r>
                <a:rPr lang="en-US" sz="9000">
                  <a:solidFill>
                    <a:srgbClr val="F4F4ED"/>
                  </a:solidFill>
                  <a:latin typeface="Archivo Black"/>
                  <a:ea typeface="Archivo Black"/>
                  <a:cs typeface="Archivo Black"/>
                  <a:sym typeface="Archivo Black"/>
                </a:rPr>
                <a:t>Creation Process</a:t>
              </a:r>
            </a:p>
          </p:txBody>
        </p:sp>
        <p:sp>
          <p:nvSpPr>
            <p:cNvPr name="TextBox 9" id="9"/>
            <p:cNvSpPr txBox="true"/>
            <p:nvPr/>
          </p:nvSpPr>
          <p:spPr>
            <a:xfrm rot="0">
              <a:off x="1282925" y="4506088"/>
              <a:ext cx="12752761" cy="5302250"/>
            </a:xfrm>
            <a:prstGeom prst="rect">
              <a:avLst/>
            </a:prstGeom>
          </p:spPr>
          <p:txBody>
            <a:bodyPr anchor="t" rtlCol="false" tIns="0" lIns="0" bIns="0" rIns="0">
              <a:spAutoFit/>
            </a:bodyPr>
            <a:lstStyle/>
            <a:p>
              <a:pPr algn="l" marL="0" indent="0" lvl="0">
                <a:lnSpc>
                  <a:spcPts val="2699"/>
                </a:lnSpc>
                <a:spcBef>
                  <a:spcPct val="0"/>
                </a:spcBef>
              </a:pPr>
              <a:r>
                <a:rPr lang="en-US" sz="1999" spc="119">
                  <a:solidFill>
                    <a:srgbClr val="FFFFFF"/>
                  </a:solidFill>
                  <a:latin typeface="Red Hat Display"/>
                  <a:ea typeface="Red Hat Display"/>
                  <a:cs typeface="Red Hat Display"/>
                  <a:sym typeface="Red Hat Display"/>
                </a:rPr>
                <a:t>The c</a:t>
              </a:r>
              <a:r>
                <a:rPr lang="en-US" sz="1999" spc="119" u="none">
                  <a:solidFill>
                    <a:srgbClr val="FFFFFF"/>
                  </a:solidFill>
                  <a:latin typeface="Red Hat Display"/>
                  <a:ea typeface="Red Hat Display"/>
                  <a:cs typeface="Red Hat Display"/>
                  <a:sym typeface="Red Hat Display"/>
                </a:rPr>
                <a:t>reation of this project followed a structured machine learning workflow. It began with collecting and understanding the dataset, followed by thorough data preprocessing to handle missing values, remove outliers, and scale features. Exploratory Data Analysis (EDA) was performed to identify patterns and relationships in the data. Feature engineering techniques, including RFM analysis, were applied to enhance the dataset. Multiple clustering algorithms such as K-Means, Hierarchical Clustering, DBSCAN, and Gaussian Mixture Models were implemented and evaluated using metrics like the Elbow Method and Silhouette Score. Finally, Principal Component Analysis (PCA) was used for visualization, and meaningful customer segments were identified to derive business insights and recommendations.</a:t>
              </a:r>
            </a:p>
          </p:txBody>
        </p:sp>
      </p:grpSp>
      <p:sp>
        <p:nvSpPr>
          <p:cNvPr name="Freeform 10" id="10"/>
          <p:cNvSpPr/>
          <p:nvPr/>
        </p:nvSpPr>
        <p:spPr>
          <a:xfrm flipH="false" flipV="false" rot="0">
            <a:off x="12271832" y="727092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95244" y="2496899"/>
            <a:ext cx="4297511" cy="4623849"/>
            <a:chOff x="0" y="0"/>
            <a:chExt cx="5730015" cy="6165133"/>
          </a:xfrm>
        </p:grpSpPr>
        <p:sp>
          <p:nvSpPr>
            <p:cNvPr name="Freeform 4" id="4"/>
            <p:cNvSpPr/>
            <p:nvPr/>
          </p:nvSpPr>
          <p:spPr>
            <a:xfrm flipH="false" flipV="false" rot="-7900054">
              <a:off x="402458" y="402817"/>
              <a:ext cx="1350642" cy="606561"/>
            </a:xfrm>
            <a:custGeom>
              <a:avLst/>
              <a:gdLst/>
              <a:ahLst/>
              <a:cxnLst/>
              <a:rect r="r" b="b" t="t" l="l"/>
              <a:pathLst>
                <a:path h="606561" w="1350642">
                  <a:moveTo>
                    <a:pt x="0" y="0"/>
                  </a:moveTo>
                  <a:lnTo>
                    <a:pt x="1350641" y="0"/>
                  </a:lnTo>
                  <a:lnTo>
                    <a:pt x="1350641"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2700000">
              <a:off x="3960453" y="418109"/>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3209977">
              <a:off x="4029166" y="5138594"/>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7866361">
              <a:off x="377227" y="5106418"/>
              <a:ext cx="1350642" cy="606561"/>
            </a:xfrm>
            <a:custGeom>
              <a:avLst/>
              <a:gdLst/>
              <a:ahLst/>
              <a:cxnLst/>
              <a:rect r="r" b="b" t="t" l="l"/>
              <a:pathLst>
                <a:path h="606561" w="1350642">
                  <a:moveTo>
                    <a:pt x="0" y="0"/>
                  </a:moveTo>
                  <a:lnTo>
                    <a:pt x="1350642" y="0"/>
                  </a:lnTo>
                  <a:lnTo>
                    <a:pt x="1350642" y="606561"/>
                  </a:lnTo>
                  <a:lnTo>
                    <a:pt x="0" y="606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0" y="1755448"/>
              <a:ext cx="5730015" cy="2765849"/>
            </a:xfrm>
            <a:prstGeom prst="rect">
              <a:avLst/>
            </a:prstGeom>
          </p:spPr>
          <p:txBody>
            <a:bodyPr anchor="t" rtlCol="false" tIns="0" lIns="0" bIns="0" rIns="0">
              <a:spAutoFit/>
            </a:bodyPr>
            <a:lstStyle/>
            <a:p>
              <a:pPr algn="ctr" marL="0" indent="0" lvl="1">
                <a:lnSpc>
                  <a:spcPts val="7760"/>
                </a:lnSpc>
                <a:spcBef>
                  <a:spcPct val="0"/>
                </a:spcBef>
              </a:pPr>
              <a:r>
                <a:rPr lang="en-US" sz="8000">
                  <a:solidFill>
                    <a:srgbClr val="FFFFFF"/>
                  </a:solidFill>
                  <a:latin typeface="Archivo Black"/>
                  <a:ea typeface="Archivo Black"/>
                  <a:cs typeface="Archivo Black"/>
                  <a:sym typeface="Archivo Black"/>
                </a:rPr>
                <a:t>Mind Map</a:t>
              </a:r>
            </a:p>
          </p:txBody>
        </p:sp>
      </p:grpSp>
      <p:sp>
        <p:nvSpPr>
          <p:cNvPr name="Freeform 9" id="9"/>
          <p:cNvSpPr/>
          <p:nvPr/>
        </p:nvSpPr>
        <p:spPr>
          <a:xfrm flipH="true" flipV="false" rot="6626729">
            <a:off x="9456655" y="666726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5"/>
            <a:stretch>
              <a:fillRect l="0" t="0" r="0" b="0"/>
            </a:stretch>
          </a:blipFill>
        </p:spPr>
      </p:sp>
      <p:grpSp>
        <p:nvGrpSpPr>
          <p:cNvPr name="Group 10" id="10"/>
          <p:cNvGrpSpPr/>
          <p:nvPr/>
        </p:nvGrpSpPr>
        <p:grpSpPr>
          <a:xfrm rot="0">
            <a:off x="1028700" y="1149117"/>
            <a:ext cx="16230600" cy="8112591"/>
            <a:chOff x="0" y="0"/>
            <a:chExt cx="21640800" cy="10816788"/>
          </a:xfrm>
        </p:grpSpPr>
        <p:grpSp>
          <p:nvGrpSpPr>
            <p:cNvPr name="Group 11" id="11"/>
            <p:cNvGrpSpPr/>
            <p:nvPr/>
          </p:nvGrpSpPr>
          <p:grpSpPr>
            <a:xfrm rot="0">
              <a:off x="0" y="0"/>
              <a:ext cx="7449652" cy="3550563"/>
              <a:chOff x="0" y="0"/>
              <a:chExt cx="2065940" cy="984643"/>
            </a:xfrm>
          </p:grpSpPr>
          <p:sp>
            <p:nvSpPr>
              <p:cNvPr name="Freeform 12" id="12"/>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0" y="3807112"/>
              <a:ext cx="7449652" cy="3550563"/>
              <a:chOff x="0" y="0"/>
              <a:chExt cx="2065940" cy="984643"/>
            </a:xfrm>
          </p:grpSpPr>
          <p:sp>
            <p:nvSpPr>
              <p:cNvPr name="Freeform 15" id="15"/>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7266225"/>
              <a:ext cx="7449652" cy="3550563"/>
              <a:chOff x="0" y="0"/>
              <a:chExt cx="2065940" cy="984643"/>
            </a:xfrm>
          </p:grpSpPr>
          <p:sp>
            <p:nvSpPr>
              <p:cNvPr name="Freeform 18" id="18"/>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19" id="19"/>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0" id="20"/>
            <p:cNvSpPr txBox="true"/>
            <p:nvPr/>
          </p:nvSpPr>
          <p:spPr>
            <a:xfrm rot="0">
              <a:off x="2618706" y="83801"/>
              <a:ext cx="4447686" cy="3466762"/>
            </a:xfrm>
            <a:prstGeom prst="rect">
              <a:avLst/>
            </a:prstGeom>
          </p:spPr>
          <p:txBody>
            <a:bodyPr anchor="t" rtlCol="false" tIns="0" lIns="0" bIns="0" rIns="0">
              <a:spAutoFit/>
            </a:bodyPr>
            <a:lstStyle/>
            <a:p>
              <a:pPr algn="l">
                <a:lnSpc>
                  <a:spcPts val="1936"/>
                </a:lnSpc>
              </a:pPr>
              <a:r>
                <a:rPr lang="en-US" sz="1299">
                  <a:solidFill>
                    <a:srgbClr val="FFFFFF"/>
                  </a:solidFill>
                  <a:latin typeface="Red Hat Display"/>
                  <a:ea typeface="Red Hat Display"/>
                  <a:cs typeface="Red Hat Display"/>
                  <a:sym typeface="Red Hat Display"/>
                </a:rPr>
                <a:t>📊 1. Data Collection</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Collected customer dataset from reliable source</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Data includes income, age, and spending score</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Ensured dataset is relevant to business problem</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Verified data structure and format</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Checked for completeness of records</a:t>
              </a:r>
            </a:p>
            <a:p>
              <a:pPr algn="l" marL="280668" indent="-140334" lvl="1">
                <a:lnSpc>
                  <a:spcPts val="1936"/>
                </a:lnSpc>
                <a:buFont typeface="Arial"/>
                <a:buChar char="•"/>
              </a:pPr>
              <a:r>
                <a:rPr lang="en-US" sz="1299">
                  <a:solidFill>
                    <a:srgbClr val="FFFFFF"/>
                  </a:solidFill>
                  <a:latin typeface="Red Hat Display"/>
                  <a:ea typeface="Red Hat Display"/>
                  <a:cs typeface="Red Hat Display"/>
                  <a:sym typeface="Red Hat Display"/>
                </a:rPr>
                <a:t>Prepared dataset for further processing</a:t>
              </a:r>
            </a:p>
            <a:p>
              <a:pPr algn="l" marL="0" indent="0" lvl="0">
                <a:lnSpc>
                  <a:spcPts val="1936"/>
                </a:lnSpc>
              </a:pPr>
            </a:p>
          </p:txBody>
        </p:sp>
        <p:sp>
          <p:nvSpPr>
            <p:cNvPr name="TextBox 21" id="21"/>
            <p:cNvSpPr txBox="true"/>
            <p:nvPr/>
          </p:nvSpPr>
          <p:spPr>
            <a:xfrm rot="0">
              <a:off x="3042581" y="4178723"/>
              <a:ext cx="4407071" cy="3178952"/>
            </a:xfrm>
            <a:prstGeom prst="rect">
              <a:avLst/>
            </a:prstGeom>
          </p:spPr>
          <p:txBody>
            <a:bodyPr anchor="t" rtlCol="false" tIns="0" lIns="0" bIns="0" rIns="0">
              <a:spAutoFit/>
            </a:bodyPr>
            <a:lstStyle/>
            <a:p>
              <a:pPr algn="l" marL="0" indent="0" lvl="0">
                <a:lnSpc>
                  <a:spcPts val="1955"/>
                </a:lnSpc>
              </a:pPr>
              <a:r>
                <a:rPr lang="en-US" sz="1312">
                  <a:solidFill>
                    <a:srgbClr val="FFFFFF"/>
                  </a:solidFill>
                  <a:latin typeface="Red Hat Display"/>
                  <a:ea typeface="Red Hat Display"/>
                  <a:cs typeface="Red Hat Display"/>
                  <a:sym typeface="Red Hat Display"/>
                </a:rPr>
                <a:t>2. Data Prepr</a:t>
              </a:r>
              <a:r>
                <a:rPr lang="en-US" sz="1312" strike="noStrike" u="none">
                  <a:solidFill>
                    <a:srgbClr val="FFFFFF"/>
                  </a:solidFill>
                  <a:latin typeface="Red Hat Display"/>
                  <a:ea typeface="Red Hat Display"/>
                  <a:cs typeface="Red Hat Display"/>
                  <a:sym typeface="Red Hat Display"/>
                </a:rPr>
                <a:t>ocessing</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Handled missing or null values</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Removed outliers using statistical methods</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Converted categorical data into numerical form</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Applied feature scaling for uniformity</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Cleaned inconsistent and noisy data</a:t>
              </a:r>
            </a:p>
            <a:p>
              <a:pPr algn="l" marL="283346" indent="-141673" lvl="1">
                <a:lnSpc>
                  <a:spcPts val="1955"/>
                </a:lnSpc>
                <a:buFont typeface="Arial"/>
                <a:buChar char="•"/>
              </a:pPr>
              <a:r>
                <a:rPr lang="en-US" sz="1312" strike="noStrike" u="none">
                  <a:solidFill>
                    <a:srgbClr val="FFFFFF"/>
                  </a:solidFill>
                  <a:latin typeface="Red Hat Display"/>
                  <a:ea typeface="Red Hat Display"/>
                  <a:cs typeface="Red Hat Display"/>
                  <a:sym typeface="Red Hat Display"/>
                </a:rPr>
                <a:t>Prepared dataset for model input</a:t>
              </a:r>
            </a:p>
            <a:p>
              <a:pPr algn="l" marL="0" indent="0" lvl="0">
                <a:lnSpc>
                  <a:spcPts val="1955"/>
                </a:lnSpc>
              </a:pPr>
            </a:p>
          </p:txBody>
        </p:sp>
        <p:sp>
          <p:nvSpPr>
            <p:cNvPr name="TextBox 22" id="22"/>
            <p:cNvSpPr txBox="true"/>
            <p:nvPr/>
          </p:nvSpPr>
          <p:spPr>
            <a:xfrm rot="0">
              <a:off x="3084241" y="7891125"/>
              <a:ext cx="4365412" cy="2547212"/>
            </a:xfrm>
            <a:prstGeom prst="rect">
              <a:avLst/>
            </a:prstGeom>
          </p:spPr>
          <p:txBody>
            <a:bodyPr anchor="t" rtlCol="false" tIns="0" lIns="0" bIns="0" rIns="0">
              <a:spAutoFit/>
            </a:bodyPr>
            <a:lstStyle/>
            <a:p>
              <a:pPr algn="l" marL="0" indent="0" lvl="0">
                <a:lnSpc>
                  <a:spcPts val="1970"/>
                </a:lnSpc>
              </a:pPr>
              <a:r>
                <a:rPr lang="en-US" sz="1322">
                  <a:solidFill>
                    <a:srgbClr val="FFFFFF"/>
                  </a:solidFill>
                  <a:latin typeface="Red Hat Display"/>
                  <a:ea typeface="Red Hat Display"/>
                  <a:cs typeface="Red Hat Display"/>
                  <a:sym typeface="Red Hat Display"/>
                </a:rPr>
                <a:t>📈 3.</a:t>
              </a:r>
              <a:r>
                <a:rPr lang="en-US" sz="1322" strike="noStrike" u="none">
                  <a:solidFill>
                    <a:srgbClr val="FFFFFF"/>
                  </a:solidFill>
                  <a:latin typeface="Red Hat Display"/>
                  <a:ea typeface="Red Hat Display"/>
                  <a:cs typeface="Red Hat Display"/>
                  <a:sym typeface="Red Hat Display"/>
                </a:rPr>
                <a:t> Exploratory Data Analysis (EDA)</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Visualized data using graphs and plots</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Analyzed distribution of features</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Studied relationships between variables</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Identified patterns and trends</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Detected anomalies and clusters</a:t>
              </a:r>
            </a:p>
            <a:p>
              <a:pPr algn="l" marL="285482" indent="-142741" lvl="1">
                <a:lnSpc>
                  <a:spcPts val="1970"/>
                </a:lnSpc>
                <a:buFont typeface="Arial"/>
                <a:buChar char="•"/>
              </a:pPr>
              <a:r>
                <a:rPr lang="en-US" sz="1322" strike="noStrike" u="none">
                  <a:solidFill>
                    <a:srgbClr val="FFFFFF"/>
                  </a:solidFill>
                  <a:latin typeface="Red Hat Display"/>
                  <a:ea typeface="Red Hat Display"/>
                  <a:cs typeface="Red Hat Display"/>
                  <a:sym typeface="Red Hat Display"/>
                </a:rPr>
                <a:t>Gained insights before modeling</a:t>
              </a:r>
            </a:p>
            <a:p>
              <a:pPr algn="l" marL="0" indent="0" lvl="0">
                <a:lnSpc>
                  <a:spcPts val="1970"/>
                </a:lnSpc>
              </a:pPr>
            </a:p>
          </p:txBody>
        </p:sp>
        <p:sp>
          <p:nvSpPr>
            <p:cNvPr name="TextBox 23" id="23"/>
            <p:cNvSpPr txBox="true"/>
            <p:nvPr/>
          </p:nvSpPr>
          <p:spPr>
            <a:xfrm rot="0">
              <a:off x="506537" y="306465"/>
              <a:ext cx="2112169"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01.</a:t>
              </a:r>
            </a:p>
          </p:txBody>
        </p:sp>
        <p:sp>
          <p:nvSpPr>
            <p:cNvPr name="TextBox 24" id="24"/>
            <p:cNvSpPr txBox="true"/>
            <p:nvPr/>
          </p:nvSpPr>
          <p:spPr>
            <a:xfrm rot="0">
              <a:off x="506537" y="4017584"/>
              <a:ext cx="2577703"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02.</a:t>
              </a:r>
            </a:p>
          </p:txBody>
        </p:sp>
        <p:sp>
          <p:nvSpPr>
            <p:cNvPr name="TextBox 25" id="25"/>
            <p:cNvSpPr txBox="true"/>
            <p:nvPr/>
          </p:nvSpPr>
          <p:spPr>
            <a:xfrm rot="0">
              <a:off x="506537" y="7733247"/>
              <a:ext cx="2651323" cy="2406970"/>
            </a:xfrm>
            <a:prstGeom prst="rect">
              <a:avLst/>
            </a:prstGeom>
          </p:spPr>
          <p:txBody>
            <a:bodyPr anchor="t" rtlCol="false" tIns="0" lIns="0" bIns="0" rIns="0">
              <a:spAutoFit/>
            </a:bodyPr>
            <a:lstStyle/>
            <a:p>
              <a:pPr algn="ctr">
                <a:lnSpc>
                  <a:spcPts val="15211"/>
                </a:lnSpc>
                <a:spcBef>
                  <a:spcPct val="0"/>
                </a:spcBef>
              </a:pPr>
              <a:r>
                <a:rPr lang="en-US" sz="10865">
                  <a:solidFill>
                    <a:srgbClr val="FFFFFF"/>
                  </a:solidFill>
                  <a:latin typeface="Red Hat Display"/>
                  <a:ea typeface="Red Hat Display"/>
                  <a:cs typeface="Red Hat Display"/>
                  <a:sym typeface="Red Hat Display"/>
                </a:rPr>
                <a:t>03.</a:t>
              </a:r>
            </a:p>
          </p:txBody>
        </p:sp>
        <p:grpSp>
          <p:nvGrpSpPr>
            <p:cNvPr name="Group 26" id="26"/>
            <p:cNvGrpSpPr/>
            <p:nvPr/>
          </p:nvGrpSpPr>
          <p:grpSpPr>
            <a:xfrm rot="0">
              <a:off x="14191148" y="121901"/>
              <a:ext cx="7449652" cy="3550563"/>
              <a:chOff x="0" y="0"/>
              <a:chExt cx="2065940" cy="984643"/>
            </a:xfrm>
          </p:grpSpPr>
          <p:sp>
            <p:nvSpPr>
              <p:cNvPr name="Freeform 27" id="27"/>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28" id="28"/>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9" id="29"/>
            <p:cNvGrpSpPr/>
            <p:nvPr/>
          </p:nvGrpSpPr>
          <p:grpSpPr>
            <a:xfrm rot="0">
              <a:off x="14191148" y="3546019"/>
              <a:ext cx="7449652" cy="3550563"/>
              <a:chOff x="0" y="0"/>
              <a:chExt cx="2065940" cy="984643"/>
            </a:xfrm>
          </p:grpSpPr>
          <p:sp>
            <p:nvSpPr>
              <p:cNvPr name="Freeform 30" id="30"/>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31" id="31"/>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2" id="32"/>
            <p:cNvGrpSpPr/>
            <p:nvPr/>
          </p:nvGrpSpPr>
          <p:grpSpPr>
            <a:xfrm rot="0">
              <a:off x="14191148" y="7261681"/>
              <a:ext cx="7449652" cy="3550563"/>
              <a:chOff x="0" y="0"/>
              <a:chExt cx="2065940" cy="984643"/>
            </a:xfrm>
          </p:grpSpPr>
          <p:sp>
            <p:nvSpPr>
              <p:cNvPr name="Freeform 33" id="33"/>
              <p:cNvSpPr/>
              <p:nvPr/>
            </p:nvSpPr>
            <p:spPr>
              <a:xfrm flipH="false" flipV="false" rot="0">
                <a:off x="0" y="0"/>
                <a:ext cx="2065940" cy="984643"/>
              </a:xfrm>
              <a:custGeom>
                <a:avLst/>
                <a:gdLst/>
                <a:ahLst/>
                <a:cxnLst/>
                <a:rect r="r" b="b" t="t" l="l"/>
                <a:pathLst>
                  <a:path h="984643" w="2065940">
                    <a:moveTo>
                      <a:pt x="27713" y="0"/>
                    </a:moveTo>
                    <a:lnTo>
                      <a:pt x="2038228" y="0"/>
                    </a:lnTo>
                    <a:cubicBezTo>
                      <a:pt x="2053533" y="0"/>
                      <a:pt x="2065940" y="12407"/>
                      <a:pt x="2065940" y="27713"/>
                    </a:cubicBezTo>
                    <a:lnTo>
                      <a:pt x="2065940" y="956931"/>
                    </a:lnTo>
                    <a:cubicBezTo>
                      <a:pt x="2065940" y="964280"/>
                      <a:pt x="2063021" y="971329"/>
                      <a:pt x="2057823" y="976527"/>
                    </a:cubicBezTo>
                    <a:cubicBezTo>
                      <a:pt x="2052626" y="981724"/>
                      <a:pt x="2045577" y="984643"/>
                      <a:pt x="2038228" y="984643"/>
                    </a:cubicBezTo>
                    <a:lnTo>
                      <a:pt x="27713" y="984643"/>
                    </a:lnTo>
                    <a:cubicBezTo>
                      <a:pt x="20363" y="984643"/>
                      <a:pt x="13314" y="981724"/>
                      <a:pt x="8117" y="976527"/>
                    </a:cubicBezTo>
                    <a:cubicBezTo>
                      <a:pt x="2920" y="971329"/>
                      <a:pt x="0" y="964280"/>
                      <a:pt x="0" y="956931"/>
                    </a:cubicBezTo>
                    <a:lnTo>
                      <a:pt x="0" y="27713"/>
                    </a:lnTo>
                    <a:cubicBezTo>
                      <a:pt x="0" y="12407"/>
                      <a:pt x="12407" y="0"/>
                      <a:pt x="27713" y="0"/>
                    </a:cubicBezTo>
                    <a:close/>
                  </a:path>
                </a:pathLst>
              </a:custGeom>
              <a:solidFill>
                <a:srgbClr val="04001E"/>
              </a:solidFill>
              <a:ln w="38100" cap="sq">
                <a:solidFill>
                  <a:srgbClr val="E5E1DA"/>
                </a:solidFill>
                <a:prstDash val="solid"/>
                <a:miter/>
              </a:ln>
            </p:spPr>
          </p:sp>
          <p:sp>
            <p:nvSpPr>
              <p:cNvPr name="TextBox 34" id="3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17051827" y="309650"/>
              <a:ext cx="4588973" cy="3649863"/>
            </a:xfrm>
            <a:prstGeom prst="rect">
              <a:avLst/>
            </a:prstGeom>
          </p:spPr>
          <p:txBody>
            <a:bodyPr anchor="t" rtlCol="false" tIns="0" lIns="0" bIns="0" rIns="0">
              <a:spAutoFit/>
            </a:bodyPr>
            <a:lstStyle/>
            <a:p>
              <a:pPr algn="l" marL="0" indent="0" lvl="0">
                <a:lnSpc>
                  <a:spcPts val="2040"/>
                </a:lnSpc>
                <a:spcBef>
                  <a:spcPct val="0"/>
                </a:spcBef>
              </a:pPr>
              <a:r>
                <a:rPr lang="en-US" sz="1369">
                  <a:solidFill>
                    <a:srgbClr val="FFFFFF"/>
                  </a:solidFill>
                  <a:latin typeface="Red Hat Display"/>
                  <a:ea typeface="Red Hat Display"/>
                  <a:cs typeface="Red Hat Display"/>
                  <a:sym typeface="Red Hat Display"/>
                </a:rPr>
                <a:t>⚙️ 4. F</a:t>
              </a:r>
              <a:r>
                <a:rPr lang="en-US" sz="1369" strike="noStrike" u="none">
                  <a:solidFill>
                    <a:srgbClr val="FFFFFF"/>
                  </a:solidFill>
                  <a:latin typeface="Red Hat Display"/>
                  <a:ea typeface="Red Hat Display"/>
                  <a:cs typeface="Red Hat Display"/>
                  <a:sym typeface="Red Hat Display"/>
                </a:rPr>
                <a:t>eature Engineering</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Created new meaningful features</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Applied RFM (Recency, Frequency, Monetary)</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Improved data quality and representation</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Reduced irrelevant or redundant features</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Enhanced model performance</a:t>
              </a:r>
            </a:p>
            <a:p>
              <a:pPr algn="l" marL="295656" indent="-147828" lvl="1">
                <a:lnSpc>
                  <a:spcPts val="2040"/>
                </a:lnSpc>
                <a:spcBef>
                  <a:spcPct val="0"/>
                </a:spcBef>
                <a:buFont typeface="Arial"/>
                <a:buChar char="•"/>
              </a:pPr>
              <a:r>
                <a:rPr lang="en-US" sz="1369" strike="noStrike" u="none">
                  <a:solidFill>
                    <a:srgbClr val="FFFFFF"/>
                  </a:solidFill>
                  <a:latin typeface="Red Hat Display"/>
                  <a:ea typeface="Red Hat Display"/>
                  <a:cs typeface="Red Hat Display"/>
                  <a:sym typeface="Red Hat Display"/>
                </a:rPr>
                <a:t>Prepared optimized dataset</a:t>
              </a:r>
            </a:p>
            <a:p>
              <a:pPr algn="l" marL="0" indent="0" lvl="0">
                <a:lnSpc>
                  <a:spcPts val="2040"/>
                </a:lnSpc>
                <a:spcBef>
                  <a:spcPct val="0"/>
                </a:spcBef>
              </a:pPr>
            </a:p>
          </p:txBody>
        </p:sp>
        <p:sp>
          <p:nvSpPr>
            <p:cNvPr name="TextBox 36" id="36"/>
            <p:cNvSpPr txBox="true"/>
            <p:nvPr/>
          </p:nvSpPr>
          <p:spPr>
            <a:xfrm rot="0">
              <a:off x="17246011" y="3921412"/>
              <a:ext cx="4394789" cy="2786703"/>
            </a:xfrm>
            <a:prstGeom prst="rect">
              <a:avLst/>
            </a:prstGeom>
          </p:spPr>
          <p:txBody>
            <a:bodyPr anchor="t" rtlCol="false" tIns="0" lIns="0" bIns="0" rIns="0">
              <a:spAutoFit/>
            </a:bodyPr>
            <a:lstStyle/>
            <a:p>
              <a:pPr algn="l" marL="0" indent="0" lvl="0">
                <a:lnSpc>
                  <a:spcPts val="1905"/>
                </a:lnSpc>
                <a:spcBef>
                  <a:spcPct val="0"/>
                </a:spcBef>
              </a:pPr>
              <a:r>
                <a:rPr lang="en-US" sz="1279">
                  <a:solidFill>
                    <a:srgbClr val="FFFFFF"/>
                  </a:solidFill>
                  <a:latin typeface="Red Hat Display"/>
                  <a:ea typeface="Red Hat Display"/>
                  <a:cs typeface="Red Hat Display"/>
                  <a:sym typeface="Red Hat Display"/>
                </a:rPr>
                <a:t>🤖 5. Cluste</a:t>
              </a:r>
              <a:r>
                <a:rPr lang="en-US" sz="1279" strike="noStrike" u="none">
                  <a:solidFill>
                    <a:srgbClr val="FFFFFF"/>
                  </a:solidFill>
                  <a:latin typeface="Red Hat Display"/>
                  <a:ea typeface="Red Hat Display"/>
                  <a:cs typeface="Red Hat Display"/>
                  <a:sym typeface="Red Hat Display"/>
                </a:rPr>
                <a:t>ring Models</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Applied K-Means clustering algorithm</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Tested Hierarchical clustering</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Used DBSCAN for density-based clustering</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Applied Gaussian Mixture Models (GMM)</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Compared performance of models</a:t>
              </a:r>
            </a:p>
            <a:p>
              <a:pPr algn="l" marL="276141" indent="-138070" lvl="1">
                <a:lnSpc>
                  <a:spcPts val="1905"/>
                </a:lnSpc>
                <a:spcBef>
                  <a:spcPct val="0"/>
                </a:spcBef>
                <a:buFont typeface="Arial"/>
                <a:buChar char="•"/>
              </a:pPr>
              <a:r>
                <a:rPr lang="en-US" sz="1279" strike="noStrike" u="none">
                  <a:solidFill>
                    <a:srgbClr val="FFFFFF"/>
                  </a:solidFill>
                  <a:latin typeface="Red Hat Display"/>
                  <a:ea typeface="Red Hat Display"/>
                  <a:cs typeface="Red Hat Display"/>
                  <a:sym typeface="Red Hat Display"/>
                </a:rPr>
                <a:t>Selected best model based on metrics</a:t>
              </a:r>
            </a:p>
            <a:p>
              <a:pPr algn="l" marL="0" indent="0" lvl="0">
                <a:lnSpc>
                  <a:spcPts val="1905"/>
                </a:lnSpc>
                <a:spcBef>
                  <a:spcPct val="0"/>
                </a:spcBef>
              </a:pPr>
            </a:p>
          </p:txBody>
        </p:sp>
        <p:sp>
          <p:nvSpPr>
            <p:cNvPr name="TextBox 37" id="37"/>
            <p:cNvSpPr txBox="true"/>
            <p:nvPr/>
          </p:nvSpPr>
          <p:spPr>
            <a:xfrm rot="0">
              <a:off x="17246011" y="7919532"/>
              <a:ext cx="4394789" cy="2514262"/>
            </a:xfrm>
            <a:prstGeom prst="rect">
              <a:avLst/>
            </a:prstGeom>
          </p:spPr>
          <p:txBody>
            <a:bodyPr anchor="t" rtlCol="false" tIns="0" lIns="0" bIns="0" rIns="0">
              <a:spAutoFit/>
            </a:bodyPr>
            <a:lstStyle/>
            <a:p>
              <a:pPr algn="l" marL="0" indent="0" lvl="0">
                <a:lnSpc>
                  <a:spcPts val="1936"/>
                </a:lnSpc>
                <a:spcBef>
                  <a:spcPct val="0"/>
                </a:spcBef>
              </a:pPr>
              <a:r>
                <a:rPr lang="en-US" sz="1299">
                  <a:solidFill>
                    <a:srgbClr val="FFFFFF"/>
                  </a:solidFill>
                  <a:latin typeface="Red Hat Display"/>
                  <a:ea typeface="Red Hat Display"/>
                  <a:cs typeface="Red Hat Display"/>
                  <a:sym typeface="Red Hat Display"/>
                </a:rPr>
                <a:t>💡</a:t>
              </a:r>
              <a:r>
                <a:rPr lang="en-US" sz="1299" strike="noStrike" u="none">
                  <a:solidFill>
                    <a:srgbClr val="FFFFFF"/>
                  </a:solidFill>
                  <a:latin typeface="Red Hat Display"/>
                  <a:ea typeface="Red Hat Display"/>
                  <a:cs typeface="Red Hat Display"/>
                  <a:sym typeface="Red Hat Display"/>
                </a:rPr>
                <a:t> 6. Insights &amp; Recommendations</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Identified different customer segments</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Analyzed behavior of each cluster</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Derived business insights from results</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Suggested targeted marketing strategies</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Improved customer retention ideas</a:t>
              </a:r>
            </a:p>
            <a:p>
              <a:pPr algn="l" marL="280668" indent="-140334" lvl="1">
                <a:lnSpc>
                  <a:spcPts val="1936"/>
                </a:lnSpc>
                <a:spcBef>
                  <a:spcPct val="0"/>
                </a:spcBef>
                <a:buFont typeface="Arial"/>
                <a:buChar char="•"/>
              </a:pPr>
              <a:r>
                <a:rPr lang="en-US" sz="1299" strike="noStrike" u="none">
                  <a:solidFill>
                    <a:srgbClr val="FFFFFF"/>
                  </a:solidFill>
                  <a:latin typeface="Red Hat Display"/>
                  <a:ea typeface="Red Hat Display"/>
                  <a:cs typeface="Red Hat Display"/>
                  <a:sym typeface="Red Hat Display"/>
                </a:rPr>
                <a:t>Provided data-driven recommendations</a:t>
              </a:r>
            </a:p>
            <a:p>
              <a:pPr algn="l" marL="0" indent="0" lvl="0">
                <a:lnSpc>
                  <a:spcPts val="1936"/>
                </a:lnSpc>
                <a:spcBef>
                  <a:spcPct val="0"/>
                </a:spcBef>
              </a:pPr>
            </a:p>
          </p:txBody>
        </p:sp>
        <p:sp>
          <p:nvSpPr>
            <p:cNvPr name="TextBox 38" id="38"/>
            <p:cNvSpPr txBox="true"/>
            <p:nvPr/>
          </p:nvSpPr>
          <p:spPr>
            <a:xfrm rot="0">
              <a:off x="14650608" y="296154"/>
              <a:ext cx="2728119"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04.</a:t>
              </a:r>
            </a:p>
          </p:txBody>
        </p:sp>
        <p:sp>
          <p:nvSpPr>
            <p:cNvPr name="TextBox 39" id="39"/>
            <p:cNvSpPr txBox="true"/>
            <p:nvPr/>
          </p:nvSpPr>
          <p:spPr>
            <a:xfrm rot="0">
              <a:off x="14650608" y="4007273"/>
              <a:ext cx="2633861"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05.</a:t>
              </a:r>
            </a:p>
          </p:txBody>
        </p:sp>
        <p:sp>
          <p:nvSpPr>
            <p:cNvPr name="TextBox 40" id="40"/>
            <p:cNvSpPr txBox="true"/>
            <p:nvPr/>
          </p:nvSpPr>
          <p:spPr>
            <a:xfrm rot="0">
              <a:off x="14650608" y="7722936"/>
              <a:ext cx="2715022" cy="2418504"/>
            </a:xfrm>
            <a:prstGeom prst="rect">
              <a:avLst/>
            </a:prstGeom>
          </p:spPr>
          <p:txBody>
            <a:bodyPr anchor="t" rtlCol="false" tIns="0" lIns="0" bIns="0" rIns="0">
              <a:spAutoFit/>
            </a:bodyPr>
            <a:lstStyle/>
            <a:p>
              <a:pPr algn="ctr">
                <a:lnSpc>
                  <a:spcPts val="15259"/>
                </a:lnSpc>
                <a:spcBef>
                  <a:spcPct val="0"/>
                </a:spcBef>
              </a:pPr>
              <a:r>
                <a:rPr lang="en-US" sz="10899">
                  <a:solidFill>
                    <a:srgbClr val="FFFFFF"/>
                  </a:solidFill>
                  <a:latin typeface="Red Hat Display"/>
                  <a:ea typeface="Red Hat Display"/>
                  <a:cs typeface="Red Hat Display"/>
                  <a:sym typeface="Red Hat Display"/>
                </a:rPr>
                <a:t>06.</a:t>
              </a:r>
            </a:p>
          </p:txBody>
        </p:sp>
      </p:grpSp>
      <p:sp>
        <p:nvSpPr>
          <p:cNvPr name="Freeform 41" id="41"/>
          <p:cNvSpPr/>
          <p:nvPr/>
        </p:nvSpPr>
        <p:spPr>
          <a:xfrm flipH="false" flipV="false" rot="0">
            <a:off x="10547408"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5081945" y="-526518"/>
            <a:ext cx="12221289" cy="8822969"/>
          </a:xfrm>
          <a:custGeom>
            <a:avLst/>
            <a:gdLst/>
            <a:ahLst/>
            <a:cxnLst/>
            <a:rect r="r" b="b" t="t" l="l"/>
            <a:pathLst>
              <a:path h="8822969" w="12221289">
                <a:moveTo>
                  <a:pt x="12221290" y="0"/>
                </a:moveTo>
                <a:lnTo>
                  <a:pt x="0" y="0"/>
                </a:lnTo>
                <a:lnTo>
                  <a:pt x="0" y="8822969"/>
                </a:lnTo>
                <a:lnTo>
                  <a:pt x="12221290" y="8822969"/>
                </a:lnTo>
                <a:lnTo>
                  <a:pt x="12221290" y="0"/>
                </a:lnTo>
                <a:close/>
              </a:path>
            </a:pathLst>
          </a:custGeom>
          <a:blipFill>
            <a:blip r:embed="rId3"/>
            <a:stretch>
              <a:fillRect l="0" t="0" r="0" b="0"/>
            </a:stretch>
          </a:blipFill>
        </p:spPr>
      </p:sp>
      <p:grpSp>
        <p:nvGrpSpPr>
          <p:cNvPr name="Group 4" id="4"/>
          <p:cNvGrpSpPr/>
          <p:nvPr/>
        </p:nvGrpSpPr>
        <p:grpSpPr>
          <a:xfrm rot="0">
            <a:off x="1248037" y="1166686"/>
            <a:ext cx="14436172" cy="7668096"/>
            <a:chOff x="0" y="0"/>
            <a:chExt cx="19248229" cy="10224128"/>
          </a:xfrm>
        </p:grpSpPr>
        <p:grpSp>
          <p:nvGrpSpPr>
            <p:cNvPr name="Group 5" id="5"/>
            <p:cNvGrpSpPr/>
            <p:nvPr/>
          </p:nvGrpSpPr>
          <p:grpSpPr>
            <a:xfrm rot="0">
              <a:off x="0" y="0"/>
              <a:ext cx="9061375" cy="4745688"/>
              <a:chOff x="0" y="0"/>
              <a:chExt cx="1414679" cy="740906"/>
            </a:xfrm>
          </p:grpSpPr>
          <p:sp>
            <p:nvSpPr>
              <p:cNvPr name="Freeform 6" id="6"/>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7" id="7"/>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0" y="5478440"/>
              <a:ext cx="9061375" cy="4745688"/>
              <a:chOff x="0" y="0"/>
              <a:chExt cx="1414679" cy="740906"/>
            </a:xfrm>
          </p:grpSpPr>
          <p:sp>
            <p:nvSpPr>
              <p:cNvPr name="Freeform 9" id="9"/>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0" id="10"/>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0186854" y="0"/>
              <a:ext cx="9061375" cy="4745688"/>
              <a:chOff x="0" y="0"/>
              <a:chExt cx="1414679" cy="740906"/>
            </a:xfrm>
          </p:grpSpPr>
          <p:sp>
            <p:nvSpPr>
              <p:cNvPr name="Freeform 12" id="12"/>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3" id="13"/>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0186854" y="5478440"/>
              <a:ext cx="9061375" cy="4745688"/>
              <a:chOff x="0" y="0"/>
              <a:chExt cx="1414679" cy="740906"/>
            </a:xfrm>
          </p:grpSpPr>
          <p:sp>
            <p:nvSpPr>
              <p:cNvPr name="Freeform 15" id="15"/>
              <p:cNvSpPr/>
              <p:nvPr/>
            </p:nvSpPr>
            <p:spPr>
              <a:xfrm flipH="false" flipV="false" rot="0">
                <a:off x="0" y="0"/>
                <a:ext cx="1414679" cy="740906"/>
              </a:xfrm>
              <a:custGeom>
                <a:avLst/>
                <a:gdLst/>
                <a:ahLst/>
                <a:cxnLst/>
                <a:rect r="r" b="b" t="t" l="l"/>
                <a:pathLst>
                  <a:path h="740906" w="1414679">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name="TextBox 16" id="16"/>
              <p:cNvSpPr txBox="true"/>
              <p:nvPr/>
            </p:nvSpPr>
            <p:spPr>
              <a:xfrm>
                <a:off x="0" y="-38100"/>
                <a:ext cx="1414679" cy="77900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7" id="17"/>
            <p:cNvGrpSpPr/>
            <p:nvPr/>
          </p:nvGrpSpPr>
          <p:grpSpPr>
            <a:xfrm rot="0">
              <a:off x="0" y="0"/>
              <a:ext cx="9061375" cy="891648"/>
              <a:chOff x="0" y="0"/>
              <a:chExt cx="1414679" cy="139206"/>
            </a:xfrm>
          </p:grpSpPr>
          <p:sp>
            <p:nvSpPr>
              <p:cNvPr name="Freeform 18" id="18"/>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19" id="19"/>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0" y="5478440"/>
              <a:ext cx="9061375" cy="891648"/>
              <a:chOff x="0" y="0"/>
              <a:chExt cx="1414679" cy="139206"/>
            </a:xfrm>
          </p:grpSpPr>
          <p:sp>
            <p:nvSpPr>
              <p:cNvPr name="Freeform 21" id="21"/>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2" id="22"/>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0186854" y="0"/>
              <a:ext cx="9061375" cy="891648"/>
              <a:chOff x="0" y="0"/>
              <a:chExt cx="1414679" cy="139206"/>
            </a:xfrm>
          </p:grpSpPr>
          <p:sp>
            <p:nvSpPr>
              <p:cNvPr name="Freeform 24" id="24"/>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5" id="25"/>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0186854" y="5478440"/>
              <a:ext cx="9061375" cy="891648"/>
              <a:chOff x="0" y="0"/>
              <a:chExt cx="1414679" cy="139206"/>
            </a:xfrm>
          </p:grpSpPr>
          <p:sp>
            <p:nvSpPr>
              <p:cNvPr name="Freeform 27" id="27"/>
              <p:cNvSpPr/>
              <p:nvPr/>
            </p:nvSpPr>
            <p:spPr>
              <a:xfrm flipH="false" flipV="false" rot="0">
                <a:off x="0" y="0"/>
                <a:ext cx="1414679" cy="139206"/>
              </a:xfrm>
              <a:custGeom>
                <a:avLst/>
                <a:gdLst/>
                <a:ahLst/>
                <a:cxnLst/>
                <a:rect r="r" b="b" t="t" l="l"/>
                <a:pathLst>
                  <a:path h="139206" w="1414679">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name="TextBox 28" id="28"/>
              <p:cNvSpPr txBox="true"/>
              <p:nvPr/>
            </p:nvSpPr>
            <p:spPr>
              <a:xfrm>
                <a:off x="0" y="-38100"/>
                <a:ext cx="1414679" cy="177306"/>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570172" y="251099"/>
              <a:ext cx="6725650"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Weaknesses</a:t>
              </a:r>
            </a:p>
          </p:txBody>
        </p:sp>
        <p:sp>
          <p:nvSpPr>
            <p:cNvPr name="TextBox 30" id="30"/>
            <p:cNvSpPr txBox="true"/>
            <p:nvPr/>
          </p:nvSpPr>
          <p:spPr>
            <a:xfrm rot="0">
              <a:off x="10852860" y="251099"/>
              <a:ext cx="6725650"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Threats</a:t>
              </a:r>
            </a:p>
          </p:txBody>
        </p:sp>
        <p:sp>
          <p:nvSpPr>
            <p:cNvPr name="TextBox 31" id="31"/>
            <p:cNvSpPr txBox="true"/>
            <p:nvPr/>
          </p:nvSpPr>
          <p:spPr>
            <a:xfrm rot="0">
              <a:off x="570172" y="5719788"/>
              <a:ext cx="7442437"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Strengths</a:t>
              </a:r>
            </a:p>
          </p:txBody>
        </p:sp>
        <p:sp>
          <p:nvSpPr>
            <p:cNvPr name="TextBox 32" id="32"/>
            <p:cNvSpPr txBox="true"/>
            <p:nvPr/>
          </p:nvSpPr>
          <p:spPr>
            <a:xfrm rot="0">
              <a:off x="10852860" y="5719788"/>
              <a:ext cx="6399394" cy="420409"/>
            </a:xfrm>
            <a:prstGeom prst="rect">
              <a:avLst/>
            </a:prstGeom>
          </p:spPr>
          <p:txBody>
            <a:bodyPr anchor="t" rtlCol="false" tIns="0" lIns="0" bIns="0" rIns="0">
              <a:spAutoFit/>
            </a:bodyPr>
            <a:lstStyle/>
            <a:p>
              <a:pPr algn="l">
                <a:lnSpc>
                  <a:spcPts val="2495"/>
                </a:lnSpc>
              </a:pPr>
              <a:r>
                <a:rPr lang="en-US" sz="2132" b="true">
                  <a:solidFill>
                    <a:srgbClr val="04001E"/>
                  </a:solidFill>
                  <a:latin typeface="Red Hat Display Bold"/>
                  <a:ea typeface="Red Hat Display Bold"/>
                  <a:cs typeface="Red Hat Display Bold"/>
                  <a:sym typeface="Red Hat Display Bold"/>
                </a:rPr>
                <a:t>Opportunities</a:t>
              </a:r>
            </a:p>
          </p:txBody>
        </p:sp>
        <p:sp>
          <p:nvSpPr>
            <p:cNvPr name="TextBox 33" id="33"/>
            <p:cNvSpPr txBox="true"/>
            <p:nvPr/>
          </p:nvSpPr>
          <p:spPr>
            <a:xfrm rot="0">
              <a:off x="570172" y="1512364"/>
              <a:ext cx="7442437" cy="2112010"/>
            </a:xfrm>
            <a:prstGeom prst="rect">
              <a:avLst/>
            </a:prstGeom>
          </p:spPr>
          <p:txBody>
            <a:bodyPr anchor="t" rtlCol="false" tIns="0" lIns="0" bIns="0" rIns="0">
              <a:spAutoFit/>
            </a:bodyPr>
            <a:lstStyle/>
            <a:p>
              <a:pPr algn="l" marL="0" indent="0" lvl="0">
                <a:lnSpc>
                  <a:spcPts val="2160"/>
                </a:lnSpc>
                <a:spcBef>
                  <a:spcPct val="0"/>
                </a:spcBef>
              </a:pPr>
              <a:r>
                <a:rPr lang="en-US" sz="1600" spc="96">
                  <a:solidFill>
                    <a:srgbClr val="FFFFFF"/>
                  </a:solidFill>
                  <a:latin typeface="Red Hat Display"/>
                  <a:ea typeface="Red Hat Display"/>
                  <a:cs typeface="Red Hat Display"/>
                  <a:sym typeface="Red Hat Display"/>
                </a:rPr>
                <a:t>Th</a:t>
              </a:r>
              <a:r>
                <a:rPr lang="en-US" sz="1600" spc="96" u="none">
                  <a:solidFill>
                    <a:srgbClr val="FFFFFF"/>
                  </a:solidFill>
                  <a:latin typeface="Red Hat Display"/>
                  <a:ea typeface="Red Hat Display"/>
                  <a:cs typeface="Red Hat Display"/>
                  <a:sym typeface="Red Hat Display"/>
                </a:rPr>
                <a:t>e model relies on limited features such as income and spending score, which may not capture the full complexity of customer behavior. It also depends on data quality, and any noise or missing data can affect performance. Additionally, clustering results may vary based on parameter selection.</a:t>
              </a:r>
            </a:p>
          </p:txBody>
        </p:sp>
        <p:sp>
          <p:nvSpPr>
            <p:cNvPr name="TextBox 34" id="34"/>
            <p:cNvSpPr txBox="true"/>
            <p:nvPr/>
          </p:nvSpPr>
          <p:spPr>
            <a:xfrm rot="0">
              <a:off x="10852860" y="1512364"/>
              <a:ext cx="7442437" cy="2112010"/>
            </a:xfrm>
            <a:prstGeom prst="rect">
              <a:avLst/>
            </a:prstGeom>
          </p:spPr>
          <p:txBody>
            <a:bodyPr anchor="t" rtlCol="false" tIns="0" lIns="0" bIns="0" rIns="0">
              <a:spAutoFit/>
            </a:bodyPr>
            <a:lstStyle/>
            <a:p>
              <a:pPr algn="l" marL="0" indent="0" lvl="0">
                <a:lnSpc>
                  <a:spcPts val="2160"/>
                </a:lnSpc>
                <a:spcBef>
                  <a:spcPct val="0"/>
                </a:spcBef>
              </a:pPr>
              <a:r>
                <a:rPr lang="en-US" sz="1600" spc="96">
                  <a:solidFill>
                    <a:srgbClr val="FFFFFF"/>
                  </a:solidFill>
                  <a:latin typeface="Red Hat Display"/>
                  <a:ea typeface="Red Hat Display"/>
                  <a:cs typeface="Red Hat Display"/>
                  <a:sym typeface="Red Hat Display"/>
                </a:rPr>
                <a:t>Chang</a:t>
              </a:r>
              <a:r>
                <a:rPr lang="en-US" sz="1600" spc="96" u="none">
                  <a:solidFill>
                    <a:srgbClr val="FFFFFF"/>
                  </a:solidFill>
                  <a:latin typeface="Red Hat Display"/>
                  <a:ea typeface="Red Hat Display"/>
                  <a:cs typeface="Red Hat Display"/>
                  <a:sym typeface="Red Hat Display"/>
                </a:rPr>
                <a:t>es in customer behavior over time may reduce the effectiveness of the model. Competitors using more advanced analytics tools may gain better insights. Data privacy and security concerns can also limit access to customer data, affecting model performance.</a:t>
              </a:r>
            </a:p>
          </p:txBody>
        </p:sp>
        <p:sp>
          <p:nvSpPr>
            <p:cNvPr name="TextBox 35" id="35"/>
            <p:cNvSpPr txBox="true"/>
            <p:nvPr/>
          </p:nvSpPr>
          <p:spPr>
            <a:xfrm rot="0">
              <a:off x="10852860" y="6986038"/>
              <a:ext cx="7442437" cy="2112010"/>
            </a:xfrm>
            <a:prstGeom prst="rect">
              <a:avLst/>
            </a:prstGeom>
          </p:spPr>
          <p:txBody>
            <a:bodyPr anchor="t" rtlCol="false" tIns="0" lIns="0" bIns="0" rIns="0">
              <a:spAutoFit/>
            </a:bodyPr>
            <a:lstStyle/>
            <a:p>
              <a:pPr algn="l" marL="0" indent="0" lvl="0">
                <a:lnSpc>
                  <a:spcPts val="2160"/>
                </a:lnSpc>
                <a:spcBef>
                  <a:spcPct val="0"/>
                </a:spcBef>
              </a:pPr>
              <a:r>
                <a:rPr lang="en-US" sz="1600" spc="96">
                  <a:solidFill>
                    <a:srgbClr val="FFFFFF"/>
                  </a:solidFill>
                  <a:latin typeface="Red Hat Display"/>
                  <a:ea typeface="Red Hat Display"/>
                  <a:cs typeface="Red Hat Display"/>
                  <a:sym typeface="Red Hat Display"/>
                </a:rPr>
                <a:t>Th</a:t>
              </a:r>
              <a:r>
                <a:rPr lang="en-US" sz="1600" spc="96" u="none">
                  <a:solidFill>
                    <a:srgbClr val="FFFFFF"/>
                  </a:solidFill>
                  <a:latin typeface="Red Hat Display"/>
                  <a:ea typeface="Red Hat Display"/>
                  <a:cs typeface="Red Hat Display"/>
                  <a:sym typeface="Red Hat Display"/>
                </a:rPr>
                <a:t>e project can be expanded by incorporating more data sources such as customer feedback, online activity, and transaction history. It can also be integrated with real-time systems and deployed as a business tool. Advanced techniques like deep learning can further improve segmentation accuracy.</a:t>
              </a:r>
            </a:p>
          </p:txBody>
        </p:sp>
        <p:sp>
          <p:nvSpPr>
            <p:cNvPr name="TextBox 36" id="36"/>
            <p:cNvSpPr txBox="true"/>
            <p:nvPr/>
          </p:nvSpPr>
          <p:spPr>
            <a:xfrm rot="0">
              <a:off x="570172" y="6986038"/>
              <a:ext cx="7442437" cy="2467610"/>
            </a:xfrm>
            <a:prstGeom prst="rect">
              <a:avLst/>
            </a:prstGeom>
          </p:spPr>
          <p:txBody>
            <a:bodyPr anchor="t" rtlCol="false" tIns="0" lIns="0" bIns="0" rIns="0">
              <a:spAutoFit/>
            </a:bodyPr>
            <a:lstStyle/>
            <a:p>
              <a:pPr algn="l" marL="0" indent="0" lvl="0">
                <a:lnSpc>
                  <a:spcPts val="2160"/>
                </a:lnSpc>
                <a:spcBef>
                  <a:spcPct val="0"/>
                </a:spcBef>
              </a:pPr>
              <a:r>
                <a:rPr lang="en-US" sz="1600" spc="96">
                  <a:solidFill>
                    <a:srgbClr val="FFFFFF"/>
                  </a:solidFill>
                  <a:latin typeface="Red Hat Display"/>
                  <a:ea typeface="Red Hat Display"/>
                  <a:cs typeface="Red Hat Display"/>
                  <a:sym typeface="Red Hat Display"/>
                </a:rPr>
                <a:t>Th</a:t>
              </a:r>
              <a:r>
                <a:rPr lang="en-US" sz="1600" spc="96" u="none">
                  <a:solidFill>
                    <a:srgbClr val="FFFFFF"/>
                  </a:solidFill>
                  <a:latin typeface="Red Hat Display"/>
                  <a:ea typeface="Red Hat Display"/>
                  <a:cs typeface="Red Hat Display"/>
                  <a:sym typeface="Red Hat Display"/>
                </a:rPr>
                <a:t>e project effectively uses machine learning techniques to segment customers based on their behavior. It provides clear and actionable insights that can help businesses improve marketing strategies, customer retention, and decision-making. The model is simple, interpretable, and scalable for real-world applications.</a:t>
              </a:r>
            </a:p>
          </p:txBody>
        </p:sp>
      </p:grpSp>
      <p:sp>
        <p:nvSpPr>
          <p:cNvPr name="Freeform 37" id="37"/>
          <p:cNvSpPr/>
          <p:nvPr/>
        </p:nvSpPr>
        <p:spPr>
          <a:xfrm flipH="false" flipV="false" rot="0">
            <a:off x="15946639"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588440" y="639365"/>
            <a:ext cx="11247107" cy="9647635"/>
            <a:chOff x="0" y="0"/>
            <a:chExt cx="14996143" cy="12863514"/>
          </a:xfrm>
        </p:grpSpPr>
        <p:grpSp>
          <p:nvGrpSpPr>
            <p:cNvPr name="Group 4" id="4"/>
            <p:cNvGrpSpPr/>
            <p:nvPr/>
          </p:nvGrpSpPr>
          <p:grpSpPr>
            <a:xfrm rot="0">
              <a:off x="0" y="0"/>
              <a:ext cx="14996143" cy="12863514"/>
              <a:chOff x="0" y="0"/>
              <a:chExt cx="2962201" cy="2540941"/>
            </a:xfrm>
          </p:grpSpPr>
          <p:sp>
            <p:nvSpPr>
              <p:cNvPr name="Freeform 5" id="5"/>
              <p:cNvSpPr/>
              <p:nvPr/>
            </p:nvSpPr>
            <p:spPr>
              <a:xfrm flipH="false" flipV="false" rot="0">
                <a:off x="0" y="0"/>
                <a:ext cx="2962201" cy="2540941"/>
              </a:xfrm>
              <a:custGeom>
                <a:avLst/>
                <a:gdLst/>
                <a:ahLst/>
                <a:cxnLst/>
                <a:rect r="r" b="b" t="t" l="l"/>
                <a:pathLst>
                  <a:path h="2540941" w="2962201">
                    <a:moveTo>
                      <a:pt x="13767" y="0"/>
                    </a:moveTo>
                    <a:lnTo>
                      <a:pt x="2948434" y="0"/>
                    </a:lnTo>
                    <a:cubicBezTo>
                      <a:pt x="2952085" y="0"/>
                      <a:pt x="2955587" y="1450"/>
                      <a:pt x="2958169" y="4032"/>
                    </a:cubicBezTo>
                    <a:cubicBezTo>
                      <a:pt x="2960750" y="6614"/>
                      <a:pt x="2962201" y="10116"/>
                      <a:pt x="2962201" y="13767"/>
                    </a:cubicBezTo>
                    <a:lnTo>
                      <a:pt x="2962201" y="2527174"/>
                    </a:lnTo>
                    <a:cubicBezTo>
                      <a:pt x="2962201" y="2530825"/>
                      <a:pt x="2960750" y="2534327"/>
                      <a:pt x="2958169" y="2536909"/>
                    </a:cubicBezTo>
                    <a:cubicBezTo>
                      <a:pt x="2955587" y="2539491"/>
                      <a:pt x="2952085" y="2540941"/>
                      <a:pt x="2948434" y="2540941"/>
                    </a:cubicBezTo>
                    <a:lnTo>
                      <a:pt x="13767" y="2540941"/>
                    </a:lnTo>
                    <a:cubicBezTo>
                      <a:pt x="10116" y="2540941"/>
                      <a:pt x="6614" y="2539491"/>
                      <a:pt x="4032" y="2536909"/>
                    </a:cubicBezTo>
                    <a:cubicBezTo>
                      <a:pt x="1450" y="2534327"/>
                      <a:pt x="0" y="2530825"/>
                      <a:pt x="0" y="2527174"/>
                    </a:cubicBezTo>
                    <a:lnTo>
                      <a:pt x="0" y="13767"/>
                    </a:lnTo>
                    <a:cubicBezTo>
                      <a:pt x="0" y="10116"/>
                      <a:pt x="1450" y="6614"/>
                      <a:pt x="4032" y="4032"/>
                    </a:cubicBezTo>
                    <a:cubicBezTo>
                      <a:pt x="6614" y="1450"/>
                      <a:pt x="10116" y="0"/>
                      <a:pt x="13767" y="0"/>
                    </a:cubicBezTo>
                    <a:close/>
                  </a:path>
                </a:pathLst>
              </a:custGeom>
              <a:solidFill>
                <a:srgbClr val="04001E"/>
              </a:solidFill>
              <a:ln w="38100" cap="sq">
                <a:solidFill>
                  <a:srgbClr val="E5E1DA"/>
                </a:solidFill>
                <a:prstDash val="solid"/>
                <a:miter/>
              </a:ln>
            </p:spPr>
          </p:sp>
          <p:sp>
            <p:nvSpPr>
              <p:cNvPr name="TextBox 6" id="6"/>
              <p:cNvSpPr txBox="true"/>
              <p:nvPr/>
            </p:nvSpPr>
            <p:spPr>
              <a:xfrm>
                <a:off x="0" y="-38100"/>
                <a:ext cx="2962201" cy="2579041"/>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308373" y="1364299"/>
              <a:ext cx="12379396" cy="4579620"/>
            </a:xfrm>
            <a:prstGeom prst="rect">
              <a:avLst/>
            </a:prstGeom>
          </p:spPr>
          <p:txBody>
            <a:bodyPr anchor="t" rtlCol="false" tIns="0" lIns="0" bIns="0" rIns="0">
              <a:spAutoFit/>
            </a:bodyPr>
            <a:lstStyle/>
            <a:p>
              <a:pPr algn="l">
                <a:lnSpc>
                  <a:spcPts val="8730"/>
                </a:lnSpc>
              </a:pPr>
              <a:r>
                <a:rPr lang="en-US" sz="9000">
                  <a:solidFill>
                    <a:srgbClr val="FFFFFF"/>
                  </a:solidFill>
                  <a:latin typeface="Archivo Black"/>
                  <a:ea typeface="Archivo Black"/>
                  <a:cs typeface="Archivo Black"/>
                  <a:sym typeface="Archivo Black"/>
                </a:rPr>
                <a:t>Final reflections &amp; future steps</a:t>
              </a:r>
            </a:p>
          </p:txBody>
        </p:sp>
        <p:sp>
          <p:nvSpPr>
            <p:cNvPr name="TextBox 8" id="8"/>
            <p:cNvSpPr txBox="true"/>
            <p:nvPr/>
          </p:nvSpPr>
          <p:spPr>
            <a:xfrm rot="0">
              <a:off x="1447267" y="6303329"/>
              <a:ext cx="11239150" cy="5302250"/>
            </a:xfrm>
            <a:prstGeom prst="rect">
              <a:avLst/>
            </a:prstGeom>
          </p:spPr>
          <p:txBody>
            <a:bodyPr anchor="t" rtlCol="false" tIns="0" lIns="0" bIns="0" rIns="0">
              <a:spAutoFit/>
            </a:bodyPr>
            <a:lstStyle/>
            <a:p>
              <a:pPr algn="l" marL="0" indent="0" lvl="0">
                <a:lnSpc>
                  <a:spcPts val="2699"/>
                </a:lnSpc>
                <a:spcBef>
                  <a:spcPct val="0"/>
                </a:spcBef>
              </a:pPr>
              <a:r>
                <a:rPr lang="en-US" sz="1999" spc="119">
                  <a:solidFill>
                    <a:srgbClr val="FFFFFF"/>
                  </a:solidFill>
                  <a:latin typeface="Red Hat Display"/>
                  <a:ea typeface="Red Hat Display"/>
                  <a:cs typeface="Red Hat Display"/>
                  <a:sym typeface="Red Hat Display"/>
                </a:rPr>
                <a:t>This pr</a:t>
              </a:r>
              <a:r>
                <a:rPr lang="en-US" sz="1999" spc="119" u="none">
                  <a:solidFill>
                    <a:srgbClr val="FFFFFF"/>
                  </a:solidFill>
                  <a:latin typeface="Red Hat Display"/>
                  <a:ea typeface="Red Hat Display"/>
                  <a:cs typeface="Red Hat Display"/>
                  <a:sym typeface="Red Hat Display"/>
                </a:rPr>
                <a:t>oject provided valuable insights into the practical application of machine learning techniques for solving real-world business problems. It helped in understanding the complete data science workflow, from data preprocessing to model building and interpretation of results. The use of clustering algorithms enabled the identification of meaningful customer segments, highlighting the importance of data-driven decision-making. Through this project, strong analytical and problem-solving skills were developed. As a future step, the model can be enhanced by incorporating more diverse and real-time data, applying advanced techniques such as deep learning, and deploying the solution as a scalable application with interactive dashboards for business use.</a:t>
              </a:r>
            </a:p>
          </p:txBody>
        </p:sp>
      </p:grpSp>
      <p:sp>
        <p:nvSpPr>
          <p:cNvPr name="Freeform 9" id="9"/>
          <p:cNvSpPr/>
          <p:nvPr/>
        </p:nvSpPr>
        <p:spPr>
          <a:xfrm flipH="false" flipV="false" rot="0">
            <a:off x="11593955"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true" rot="-1542318">
            <a:off x="11968542" y="-103561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2666040" y="4141899"/>
            <a:ext cx="9245435" cy="1764311"/>
          </a:xfrm>
          <a:prstGeom prst="rect">
            <a:avLst/>
          </a:prstGeom>
        </p:spPr>
        <p:txBody>
          <a:bodyPr anchor="t" rtlCol="false" tIns="0" lIns="0" bIns="0" rIns="0">
            <a:spAutoFit/>
          </a:bodyPr>
          <a:lstStyle/>
          <a:p>
            <a:pPr algn="l">
              <a:lnSpc>
                <a:spcPts val="12699"/>
              </a:lnSpc>
            </a:pPr>
            <a:r>
              <a:rPr lang="en-US" sz="14597">
                <a:solidFill>
                  <a:srgbClr val="FFFFFF"/>
                </a:solidFill>
                <a:latin typeface="Archivo Black"/>
                <a:ea typeface="Archivo Black"/>
                <a:cs typeface="Archivo Black"/>
                <a:sym typeface="Archivo Black"/>
              </a:rPr>
              <a:t>The End</a:t>
            </a:r>
          </a:p>
        </p:txBody>
      </p:sp>
      <p:sp>
        <p:nvSpPr>
          <p:cNvPr name="Freeform 4" id="4"/>
          <p:cNvSpPr/>
          <p:nvPr/>
        </p:nvSpPr>
        <p:spPr>
          <a:xfrm flipH="false" flipV="false" rot="10435729">
            <a:off x="-3241105" y="-2477065"/>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DAHE2aAAMuA</dc:identifier>
  <dcterms:modified xsi:type="dcterms:W3CDTF">2011-08-01T06:04:30Z</dcterms:modified>
  <cp:revision>1</cp:revision>
  <dc:title>Customer Segmentation using clustering</dc:title>
</cp:coreProperties>
</file>